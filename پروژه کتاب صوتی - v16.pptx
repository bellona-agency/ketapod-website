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2"/>
  </p:notesMasterIdLst>
  <p:handoutMasterIdLst>
    <p:handoutMasterId r:id="rId33"/>
  </p:handoutMasterIdLst>
  <p:sldIdLst>
    <p:sldId id="342" r:id="rId5"/>
    <p:sldId id="387" r:id="rId6"/>
    <p:sldId id="415" r:id="rId7"/>
    <p:sldId id="388" r:id="rId8"/>
    <p:sldId id="412" r:id="rId9"/>
    <p:sldId id="413" r:id="rId10"/>
    <p:sldId id="396" r:id="rId11"/>
    <p:sldId id="378" r:id="rId12"/>
    <p:sldId id="375" r:id="rId13"/>
    <p:sldId id="425" r:id="rId14"/>
    <p:sldId id="376" r:id="rId15"/>
    <p:sldId id="398" r:id="rId16"/>
    <p:sldId id="399" r:id="rId17"/>
    <p:sldId id="400" r:id="rId18"/>
    <p:sldId id="408" r:id="rId19"/>
    <p:sldId id="401" r:id="rId20"/>
    <p:sldId id="374" r:id="rId21"/>
    <p:sldId id="394" r:id="rId22"/>
    <p:sldId id="423" r:id="rId23"/>
    <p:sldId id="422" r:id="rId24"/>
    <p:sldId id="404" r:id="rId25"/>
    <p:sldId id="397" r:id="rId26"/>
    <p:sldId id="385" r:id="rId27"/>
    <p:sldId id="409" r:id="rId28"/>
    <p:sldId id="365" r:id="rId29"/>
    <p:sldId id="411" r:id="rId30"/>
    <p:sldId id="402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16F4"/>
    <a:srgbClr val="010A1E"/>
    <a:srgbClr val="1CDFF5"/>
    <a:srgbClr val="FFFFCC"/>
    <a:srgbClr val="FFFF66"/>
    <a:srgbClr val="030308"/>
    <a:srgbClr val="0B0215"/>
    <a:srgbClr val="12ADB6"/>
    <a:srgbClr val="557EBE"/>
    <a:srgbClr val="00B1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423" autoAdjust="0"/>
    <p:restoredTop sz="95388" autoAdjust="0"/>
  </p:normalViewPr>
  <p:slideViewPr>
    <p:cSldViewPr snapToGrid="0" snapToObjects="1" showGuides="1">
      <p:cViewPr varScale="1">
        <p:scale>
          <a:sx n="89" d="100"/>
          <a:sy n="89" d="100"/>
        </p:scale>
        <p:origin x="398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38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8/26/2026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8/26/2026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999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79532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51003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3272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51255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5224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0290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0729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65198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2836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50123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95683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56385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04799"/>
            <a:ext cx="12191998" cy="3215641"/>
          </a:xfrm>
        </p:spPr>
        <p:txBody>
          <a:bodyPr lIns="0" rIns="0" bIns="0" anchor="b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8B9CAE2-F3DD-D6D3-96C8-D947A41177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3670628"/>
            <a:ext cx="12191997" cy="2577772"/>
          </a:xfrm>
        </p:spPr>
        <p:txBody>
          <a:bodyPr>
            <a:noAutofit/>
          </a:bodyPr>
          <a:lstStyle>
            <a:lvl1pPr marL="0" indent="0" algn="ctr">
              <a:buNone/>
              <a:defRPr sz="3200" b="0" i="0" cap="all" spc="600" baseline="0">
                <a:solidFill>
                  <a:schemeClr val="accent3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119321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anchor="ctr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Content Placeholder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Graphic 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anchor="b"/>
          <a:lstStyle>
            <a:lvl1pPr>
              <a:defRPr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B5B81B-FCE8-FE9C-8F0A-6488B25F0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869" y="579120"/>
            <a:ext cx="11548261" cy="2733306"/>
          </a:xfrm>
        </p:spPr>
        <p:txBody>
          <a:bodyPr anchor="b">
            <a:noAutofit/>
          </a:bodyPr>
          <a:lstStyle>
            <a:lvl1pPr algn="ctr">
              <a:defRPr sz="32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F877C2F-8190-18D9-5D24-5BD7B05A29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1868" y="3484615"/>
            <a:ext cx="11562303" cy="2387865"/>
          </a:xfrm>
        </p:spPr>
        <p:txBody>
          <a:bodyPr>
            <a:noAutofit/>
          </a:bodyPr>
          <a:lstStyle>
            <a:lvl1pPr marL="0" indent="0" algn="ctr">
              <a:buNone/>
              <a:defRPr sz="60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659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664209F-41AB-70E5-1B9E-7490900C5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1"/>
            <a:ext cx="12191997" cy="6857998"/>
          </a:xfrm>
          <a:prstGeom prst="rect">
            <a:avLst/>
          </a:prstGeom>
          <a:gradFill flip="none" rotWithShape="1">
            <a:gsLst>
              <a:gs pos="0">
                <a:srgbClr val="1A012C"/>
              </a:gs>
              <a:gs pos="45000">
                <a:srgbClr val="1A012C">
                  <a:alpha val="50000"/>
                </a:srgbClr>
              </a:gs>
              <a:gs pos="100000">
                <a:schemeClr val="accent6">
                  <a:lumMod val="5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2D3409-585B-54E2-1DCC-AC58804E4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6350"/>
            <a:ext cx="6096000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891" y="511762"/>
            <a:ext cx="4960830" cy="2785158"/>
          </a:xfrm>
        </p:spPr>
        <p:txBody>
          <a:bodyPr anchor="b">
            <a:noAutofit/>
          </a:bodyPr>
          <a:lstStyle>
            <a:lvl1pPr algn="l">
              <a:defRPr sz="24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47B8A5C-E279-DB0B-E9D3-9274178761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2640" y="3484615"/>
            <a:ext cx="4958081" cy="2387865"/>
          </a:xfrm>
        </p:spPr>
        <p:txBody>
          <a:bodyPr>
            <a:noAutofit/>
          </a:bodyPr>
          <a:lstStyle>
            <a:lvl1pPr marL="0" indent="0" algn="l">
              <a:buNone/>
              <a:defRPr sz="32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386C402-C5C5-2A54-C618-62673AD93C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97638" y="336550"/>
            <a:ext cx="5322887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218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2 column">
    <p:bg>
      <p:bgPr>
        <a:gradFill>
          <a:gsLst>
            <a:gs pos="100000">
              <a:schemeClr val="tx2"/>
            </a:gs>
            <a:gs pos="79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14">
            <a:extLst>
              <a:ext uri="{FF2B5EF4-FFF2-40B4-BE49-F238E27FC236}">
                <a16:creationId xmlns:a16="http://schemas.microsoft.com/office/drawing/2014/main" id="{318CE367-BBCB-F4AB-635F-4C9995EAE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350"/>
            <a:ext cx="2356339" cy="68538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CE3FBBA-81E2-31F1-EF51-02706B5B5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6339" y="-6350"/>
            <a:ext cx="983180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D3746D-3CD1-FFA5-0019-AD0C588B1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05669" y="2002443"/>
            <a:ext cx="7922116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5669" y="113097"/>
            <a:ext cx="7420819" cy="16563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9624CF4-7769-4663-3361-39136F5E20C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305669" y="2470150"/>
            <a:ext cx="7420819" cy="3676649"/>
          </a:xfrm>
        </p:spPr>
        <p:txBody>
          <a:bodyPr/>
          <a:lstStyle>
            <a:lvl1pPr marL="2857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+mn-lt"/>
              </a:defRPr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+mn-lt"/>
              </a:defRPr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+mn-lt"/>
              </a:defRPr>
            </a:lvl3pPr>
            <a:lvl4pPr marL="16573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026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361F2FA-20C7-5447-C138-CE2CA186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" y="2"/>
            <a:ext cx="12191997" cy="6857998"/>
            <a:chOff x="3" y="2"/>
            <a:chExt cx="12191997" cy="685799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FEDD626-82E4-71C6-25F1-CDA46B7B3F39}"/>
                </a:ext>
              </a:extLst>
            </p:cNvPr>
            <p:cNvSpPr/>
            <p:nvPr/>
          </p:nvSpPr>
          <p:spPr>
            <a:xfrm>
              <a:off x="3" y="2"/>
              <a:ext cx="12191997" cy="6857998"/>
            </a:xfrm>
            <a:prstGeom prst="rect">
              <a:avLst/>
            </a:prstGeom>
            <a:gradFill flip="none" rotWithShape="1">
              <a:gsLst>
                <a:gs pos="0">
                  <a:srgbClr val="1A012C"/>
                </a:gs>
                <a:gs pos="45000">
                  <a:srgbClr val="1A012C">
                    <a:alpha val="50000"/>
                  </a:srgbClr>
                </a:gs>
                <a:gs pos="100000">
                  <a:schemeClr val="accent6">
                    <a:lumMod val="5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DC952AF-CE06-54F7-CB4A-1722F90A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" y="2"/>
              <a:ext cx="12191994" cy="6857996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E6EDFF3-843B-AAE9-DB73-423142606F52}"/>
                </a:ext>
              </a:extLst>
            </p:cNvPr>
            <p:cNvGrpSpPr/>
            <p:nvPr/>
          </p:nvGrpSpPr>
          <p:grpSpPr>
            <a:xfrm rot="5400000">
              <a:off x="1645776" y="1222395"/>
              <a:ext cx="431603" cy="412684"/>
              <a:chOff x="1870859" y="869908"/>
              <a:chExt cx="431603" cy="412684"/>
            </a:xfrm>
          </p:grpSpPr>
          <p:sp>
            <p:nvSpPr>
              <p:cNvPr id="12" name="Graphic 15">
                <a:extLst>
                  <a:ext uri="{FF2B5EF4-FFF2-40B4-BE49-F238E27FC236}">
                    <a16:creationId xmlns:a16="http://schemas.microsoft.com/office/drawing/2014/main" id="{312F4F85-6C79-201D-E20D-64CD4728E4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01D71DAD-ECC6-A850-88E4-A4EDCF494A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632CC6D-6024-2368-8EBA-4B7A2D6428BC}"/>
                </a:ext>
              </a:extLst>
            </p:cNvPr>
            <p:cNvGrpSpPr/>
            <p:nvPr/>
          </p:nvGrpSpPr>
          <p:grpSpPr>
            <a:xfrm rot="20626702">
              <a:off x="10248169" y="5448942"/>
              <a:ext cx="431603" cy="412684"/>
              <a:chOff x="1870859" y="869908"/>
              <a:chExt cx="431603" cy="412684"/>
            </a:xfrm>
          </p:grpSpPr>
          <p:sp>
            <p:nvSpPr>
              <p:cNvPr id="6" name="Graphic 15">
                <a:extLst>
                  <a:ext uri="{FF2B5EF4-FFF2-40B4-BE49-F238E27FC236}">
                    <a16:creationId xmlns:a16="http://schemas.microsoft.com/office/drawing/2014/main" id="{B05BE7BE-7D54-A09B-8A67-6B28CF6BB6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7" name="Graphic 12">
                <a:extLst>
                  <a:ext uri="{FF2B5EF4-FFF2-40B4-BE49-F238E27FC236}">
                    <a16:creationId xmlns:a16="http://schemas.microsoft.com/office/drawing/2014/main" id="{258346A9-F75C-6704-EEED-CF7A8A0F8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82CC39D-03B1-4933-F236-462B5862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anchor="b"/>
          <a:lstStyle>
            <a:lvl1pPr algn="ctr">
              <a:defRPr sz="3200" cap="all" spc="6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711CA51-49DC-62CA-F147-F286B1C9DBD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2448" y="3962135"/>
            <a:ext cx="6327105" cy="2653771"/>
          </a:xfrm>
        </p:spPr>
        <p:txBody>
          <a:bodyPr>
            <a:noAutofit/>
          </a:bodyPr>
          <a:lstStyle>
            <a:lvl1pPr marL="0" indent="0" algn="ctr">
              <a:buNone/>
              <a:defRPr sz="1800" b="0" i="0" cap="all" spc="300" baseline="0">
                <a:solidFill>
                  <a:schemeClr val="bg1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118341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Picture 5" descr="A blue and purple spiral&#10;&#10;Description automatically generated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Graphic 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2" name="Graphic 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Graphic 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0" name="Graphic 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2" y="2474811"/>
            <a:ext cx="4015098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D77F99A7-26FA-422E-43E9-C76B4A56E4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995159" y="2474811"/>
            <a:ext cx="4227332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828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Graphic 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Graphic 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Graphic 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927600" y="2465539"/>
            <a:ext cx="6315069" cy="3723753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23B0D0-B01D-0BB0-6127-A878BE49D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39728" y="-6350"/>
            <a:ext cx="6154615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9627" y="173736"/>
            <a:ext cx="4352662" cy="220370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C363351-4779-B42E-ED7A-C4AF2920BABC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36550" y="336550"/>
            <a:ext cx="5303640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9627" y="3104277"/>
            <a:ext cx="4371560" cy="3022201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712911-615E-724B-FC0F-99629152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89627" y="2679480"/>
            <a:ext cx="4352662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082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FFF0E2-6B47-67EB-D6AA-D972E7B7C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350"/>
            <a:ext cx="464695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827F6F-999F-23E9-8C09-325D1A76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80134"/>
            <a:ext cx="3114078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171396"/>
            <a:ext cx="3736630" cy="2202350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41716" y="3078480"/>
            <a:ext cx="3108193" cy="30479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D360C16C-E69B-FDEF-F033-CA9A2E238288}"/>
              </a:ext>
            </a:extLst>
          </p:cNvPr>
          <p:cNvSpPr>
            <a:spLocks noGrp="1"/>
          </p:cNvSpPr>
          <p:nvPr>
            <p:ph type="tbl" sz="quarter" idx="37"/>
          </p:nvPr>
        </p:nvSpPr>
        <p:spPr>
          <a:xfrm>
            <a:off x="5067300" y="404813"/>
            <a:ext cx="6705600" cy="6048375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907219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96A82D-0723-4BA3-0283-9F0D67B0C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20A5FD-BDFB-45F2-E644-E93FB81CA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416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3562" y="433906"/>
            <a:ext cx="10515601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4302" y="2465535"/>
            <a:ext cx="7303538" cy="3427265"/>
          </a:xfrm>
        </p:spPr>
        <p:txBody>
          <a:bodyPr/>
          <a:lstStyle>
            <a:lvl1pPr marL="283464" indent="-283464"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6928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2pPr>
            <a:lvl3pPr marL="859536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3pPr>
            <a:lvl4pPr marL="115214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E7FC75E-AA73-003E-D4E3-B1819886AF9C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392160" y="2465388"/>
            <a:ext cx="2856865" cy="3427412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600">
                <a:solidFill>
                  <a:schemeClr val="bg1"/>
                </a:solidFill>
                <a:latin typeface="+mn-lt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bg1"/>
                </a:solidFill>
                <a:latin typeface="+mn-lt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611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D51531-1219-2E4B-DCE7-C6FD9D809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EC02E56-87A4-158A-F0B0-DB8E9BE3A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91547"/>
            <a:ext cx="10546763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643842"/>
            <a:ext cx="10515601" cy="1140849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471D7DE3-05F5-8052-02FA-6EF9717E15B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5025" y="2560638"/>
            <a:ext cx="10515600" cy="3478212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 dirty="0"/>
              <a:t>Click icon to add table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68DE94-FC46-A848-7949-ABFEADADE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5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Graphic 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pic>
          <p:nvPicPr>
            <p:cNvPr id="4" name="Content Placeholder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260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79" r:id="rId2"/>
    <p:sldLayoutId id="2147483669" r:id="rId3"/>
    <p:sldLayoutId id="2147483672" r:id="rId4"/>
    <p:sldLayoutId id="2147483673" r:id="rId5"/>
    <p:sldLayoutId id="2147483674" r:id="rId6"/>
    <p:sldLayoutId id="2147483671" r:id="rId7"/>
    <p:sldLayoutId id="2147483675" r:id="rId8"/>
    <p:sldLayoutId id="2147483676" r:id="rId9"/>
    <p:sldLayoutId id="2147483670" r:id="rId10"/>
    <p:sldLayoutId id="2147483677" r:id="rId11"/>
    <p:sldLayoutId id="2147483678" r:id="rId12"/>
    <p:sldLayoutId id="2147483664" r:id="rId13"/>
    <p:sldLayoutId id="214748366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orcid.org/0000-0002-0921-1926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97874EA-2F67-60CD-631F-5A787057F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93662"/>
            <a:ext cx="12191998" cy="3215641"/>
          </a:xfrm>
        </p:spPr>
        <p:txBody>
          <a:bodyPr anchor="b"/>
          <a:lstStyle/>
          <a:p>
            <a:pPr rtl="1"/>
            <a:r>
              <a:rPr lang="fa-IR" sz="5400" b="1" spc="0" dirty="0">
                <a:latin typeface="Sahel" panose="020B0603030804020204" pitchFamily="34" charset="-78"/>
                <a:cs typeface="Sahel" panose="020B0603030804020204" pitchFamily="34" charset="-78"/>
              </a:rPr>
              <a:t>استارتاپ کتاپاد</a:t>
            </a:r>
            <a:endParaRPr lang="en-US" sz="5400" b="1" spc="0" dirty="0">
              <a:latin typeface="Sahel" panose="020B0603030804020204" pitchFamily="34" charset="-78"/>
              <a:cs typeface="Sahel" panose="020B0603030804020204" pitchFamily="34" charset="-78"/>
            </a:endParaRPr>
          </a:p>
        </p:txBody>
      </p:sp>
      <p:sp>
        <p:nvSpPr>
          <p:cNvPr id="9" name="Subtitle 3">
            <a:extLst>
              <a:ext uri="{FF2B5EF4-FFF2-40B4-BE49-F238E27FC236}">
                <a16:creationId xmlns:a16="http://schemas.microsoft.com/office/drawing/2014/main" id="{2981AB9E-AF0F-CAD0-2DD2-D640FB871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69008" y="4356517"/>
            <a:ext cx="12191997" cy="2577772"/>
          </a:xfrm>
        </p:spPr>
        <p:txBody>
          <a:bodyPr/>
          <a:lstStyle/>
          <a:p>
            <a:r>
              <a:rPr lang="fa-IR" sz="2000" spc="0" dirty="0">
                <a:latin typeface="Ye"/>
                <a:cs typeface="B Yekan" panose="00000400000000000000" pitchFamily="2" charset="-78"/>
              </a:rPr>
              <a:t>اعترافات هوش مصنوعی کتابخوان</a:t>
            </a:r>
            <a:endParaRPr lang="en-US" sz="2000" spc="0" dirty="0">
              <a:latin typeface="Ye"/>
              <a:cs typeface="B Yeka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498031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60903-003B-273E-3584-5312F76C3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4108" y="-16186"/>
            <a:ext cx="8016755" cy="1656304"/>
          </a:xfrm>
        </p:spPr>
        <p:txBody>
          <a:bodyPr/>
          <a:lstStyle/>
          <a:p>
            <a:pPr algn="r" rtl="1"/>
            <a:r>
              <a:rPr lang="fa-IR" sz="3600" b="1" dirty="0">
                <a:latin typeface="Sahel" panose="020B0603030804020204" pitchFamily="34" charset="-78"/>
                <a:cs typeface="Sahel" panose="020B0603030804020204" pitchFamily="34" charset="-78"/>
              </a:rPr>
              <a:t>چالش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160DFF-2E7E-7A22-819A-C011020DFF01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361746" y="2104901"/>
            <a:ext cx="8016755" cy="4536735"/>
          </a:xfrm>
        </p:spPr>
        <p:txBody>
          <a:bodyPr/>
          <a:lstStyle/>
          <a:p>
            <a:pPr marL="0" indent="0" algn="r" rtl="1">
              <a:buNone/>
            </a:pPr>
            <a:r>
              <a:rPr lang="fa-IR" sz="1400" dirty="0">
                <a:latin typeface="KalamehFaNum" pitchFamily="2" charset="-78"/>
                <a:cs typeface="KalamehFaNum" pitchFamily="2" charset="-78"/>
              </a:rPr>
              <a:t> </a:t>
            </a:r>
            <a:r>
              <a:rPr lang="fa-IR" sz="1600" b="1" dirty="0">
                <a:solidFill>
                  <a:srgbClr val="1CDFF5"/>
                </a:solidFill>
                <a:latin typeface="KalamehFaNum" pitchFamily="2" charset="-78"/>
                <a:cs typeface="KalamehFaNum" pitchFamily="2" charset="-78"/>
              </a:rPr>
              <a:t>«مشکلات ناشی از کمبود سرانه مطالعه»</a:t>
            </a:r>
            <a:endParaRPr lang="en-US" sz="1600" dirty="0">
              <a:solidFill>
                <a:srgbClr val="1CDFF5"/>
              </a:solidFill>
              <a:latin typeface="KalamehFaNum" pitchFamily="2" charset="-78"/>
              <a:cs typeface="KalamehFaNum" pitchFamily="2" charset="-78"/>
            </a:endParaRPr>
          </a:p>
          <a:p>
            <a:pPr algn="r" rtl="1">
              <a:buFont typeface="+mj-lt"/>
              <a:buAutoNum type="arabicPeriod"/>
            </a:pPr>
            <a:r>
              <a:rPr lang="fa-IR" sz="1200" b="1" dirty="0">
                <a:effectLst/>
                <a:latin typeface="KalamehFaNum" pitchFamily="2" charset="-78"/>
                <a:cs typeface="KalamehFaNum" pitchFamily="2" charset="-78"/>
              </a:rPr>
              <a:t>کاهش دانش و مهارت</a:t>
            </a:r>
            <a:r>
              <a:rPr lang="en-US" sz="1200" b="1" dirty="0">
                <a:latin typeface="KalamehFaNum" pitchFamily="2" charset="-78"/>
                <a:cs typeface="KalamehFaNum" pitchFamily="2" charset="-78"/>
              </a:rPr>
              <a:t> </a:t>
            </a:r>
            <a:r>
              <a:rPr lang="fa-IR" sz="1200" b="1" dirty="0">
                <a:latin typeface="KalamehFaNum" pitchFamily="2" charset="-78"/>
                <a:cs typeface="KalamehFaNum" pitchFamily="2" charset="-78"/>
              </a:rPr>
              <a:t> و در نهایت کاهش بهره وری</a:t>
            </a:r>
          </a:p>
          <a:p>
            <a:pPr algn="r" rtl="1">
              <a:buFont typeface="+mj-lt"/>
              <a:buAutoNum type="arabicPeriod"/>
            </a:pPr>
            <a:r>
              <a:rPr lang="fa-IR" sz="1200" b="1" dirty="0">
                <a:effectLst/>
                <a:latin typeface="KalamehFaNum" pitchFamily="2" charset="-78"/>
                <a:cs typeface="KalamehFaNum" pitchFamily="2" charset="-78"/>
              </a:rPr>
              <a:t>شکاف اجتماعی و اقتصادی</a:t>
            </a:r>
            <a:r>
              <a:rPr lang="fa-IR" sz="1200" dirty="0">
                <a:effectLst/>
                <a:latin typeface="KalamehFaNum" pitchFamily="2" charset="-78"/>
                <a:cs typeface="KalamehFaNum" pitchFamily="2" charset="-78"/>
              </a:rPr>
              <a:t> </a:t>
            </a:r>
            <a:r>
              <a:rPr lang="fa-IR" sz="1200" b="1" dirty="0">
                <a:effectLst/>
                <a:latin typeface="KalamehFaNum" pitchFamily="2" charset="-78"/>
                <a:cs typeface="KalamehFaNum" pitchFamily="2" charset="-78"/>
              </a:rPr>
              <a:t>وافزایش نابرابری </a:t>
            </a:r>
          </a:p>
          <a:p>
            <a:pPr algn="r" rtl="1">
              <a:buFont typeface="+mj-lt"/>
              <a:buAutoNum type="arabicPeriod"/>
            </a:pPr>
            <a:r>
              <a:rPr lang="fa-IR" sz="1200" b="1" dirty="0">
                <a:effectLst/>
                <a:latin typeface="KalamehFaNum" pitchFamily="2" charset="-78"/>
                <a:cs typeface="KalamehFaNum" pitchFamily="2" charset="-78"/>
              </a:rPr>
              <a:t>افزایش تعصبات فرهنگی و کاهش همبستگی اجتماعی</a:t>
            </a:r>
          </a:p>
          <a:p>
            <a:pPr algn="r" rtl="1">
              <a:buFont typeface="+mj-lt"/>
              <a:buAutoNum type="arabicPeriod"/>
            </a:pPr>
            <a:r>
              <a:rPr lang="fa-IR" sz="1200" b="1" dirty="0">
                <a:effectLst/>
                <a:latin typeface="KalamehFaNum" pitchFamily="2" charset="-78"/>
                <a:cs typeface="KalamehFaNum" pitchFamily="2" charset="-78"/>
              </a:rPr>
              <a:t>کاهش نوآوری</a:t>
            </a:r>
            <a:r>
              <a:rPr lang="fa-IR" sz="1200" dirty="0">
                <a:effectLst/>
                <a:latin typeface="KalamehFaNum" pitchFamily="2" charset="-78"/>
                <a:cs typeface="KalamehFaNum" pitchFamily="2" charset="-78"/>
              </a:rPr>
              <a:t> </a:t>
            </a:r>
            <a:r>
              <a:rPr lang="fa-IR" sz="1200" b="1" dirty="0">
                <a:effectLst/>
                <a:latin typeface="KalamehFaNum" pitchFamily="2" charset="-78"/>
                <a:cs typeface="KalamehFaNum" pitchFamily="2" charset="-78"/>
              </a:rPr>
              <a:t>و خلاقیت</a:t>
            </a:r>
          </a:p>
          <a:p>
            <a:pPr algn="r" rtl="1">
              <a:buFont typeface="+mj-lt"/>
              <a:buAutoNum type="arabicPeriod"/>
            </a:pPr>
            <a:r>
              <a:rPr lang="fa-IR" sz="1200" b="1" dirty="0">
                <a:effectLst/>
                <a:latin typeface="KalamehFaNum" pitchFamily="2" charset="-78"/>
                <a:cs typeface="KalamehFaNum" pitchFamily="2" charset="-78"/>
              </a:rPr>
              <a:t>تأثیر منفی بر مشارکت اثربخش مدنی</a:t>
            </a:r>
          </a:p>
          <a:p>
            <a:pPr marL="0" indent="0" algn="r" rtl="1">
              <a:buNone/>
            </a:pPr>
            <a:r>
              <a:rPr lang="fa-IR" sz="1200" b="1" i="1" dirty="0">
                <a:solidFill>
                  <a:schemeClr val="bg1">
                    <a:lumMod val="85000"/>
                  </a:schemeClr>
                </a:solidFill>
                <a:latin typeface="KalamehFaNum" pitchFamily="2" charset="-78"/>
                <a:cs typeface="KalamehFaNum" pitchFamily="2" charset="-78"/>
              </a:rPr>
              <a:t>منابع: </a:t>
            </a:r>
          </a:p>
          <a:p>
            <a:pPr marL="0" indent="0" algn="r" rtl="1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050" dirty="0">
                <a:effectLst/>
                <a:latin typeface="KalamehFaNum" pitchFamily="2" charset="-78"/>
                <a:cs typeface="KalamehFaNum" pitchFamily="2" charset="-78"/>
              </a:rPr>
              <a:t>Johnson &amp; Lee (2015), </a:t>
            </a:r>
            <a:r>
              <a:rPr lang="en-US" sz="1050" i="1" dirty="0">
                <a:effectLst/>
                <a:latin typeface="KalamehFaNum" pitchFamily="2" charset="-78"/>
                <a:cs typeface="KalamehFaNum" pitchFamily="2" charset="-78"/>
              </a:rPr>
              <a:t>International Journal of Cultural Studies</a:t>
            </a:r>
            <a:endParaRPr lang="fa-IR" sz="1050" i="1" dirty="0">
              <a:latin typeface="KalamehFaNum" pitchFamily="2" charset="-78"/>
              <a:cs typeface="KalamehFaNum" pitchFamily="2" charset="-78"/>
            </a:endParaRPr>
          </a:p>
          <a:p>
            <a:pPr marL="0" indent="0" algn="r" rtl="1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050" dirty="0">
                <a:latin typeface="KalamehFaNum" pitchFamily="2" charset="-78"/>
                <a:cs typeface="KalamehFaNum" pitchFamily="2" charset="-78"/>
              </a:rPr>
              <a:t>Freeman &amp; </a:t>
            </a:r>
            <a:r>
              <a:rPr lang="en-US" sz="1050" dirty="0" err="1">
                <a:latin typeface="KalamehFaNum" pitchFamily="2" charset="-78"/>
                <a:cs typeface="KalamehFaNum" pitchFamily="2" charset="-78"/>
              </a:rPr>
              <a:t>Soete</a:t>
            </a:r>
            <a:r>
              <a:rPr lang="en-US" sz="1050" dirty="0">
                <a:latin typeface="KalamehFaNum" pitchFamily="2" charset="-78"/>
                <a:cs typeface="KalamehFaNum" pitchFamily="2" charset="-78"/>
              </a:rPr>
              <a:t> (2009), </a:t>
            </a:r>
            <a:r>
              <a:rPr lang="en-US" sz="1050" i="1" dirty="0">
                <a:latin typeface="KalamehFaNum" pitchFamily="2" charset="-78"/>
                <a:cs typeface="KalamehFaNum" pitchFamily="2" charset="-78"/>
              </a:rPr>
              <a:t>Research Policy</a:t>
            </a:r>
            <a:r>
              <a:rPr lang="fa-IR" sz="1050" b="1" dirty="0">
                <a:latin typeface="KalamehFaNum" pitchFamily="2" charset="-78"/>
                <a:cs typeface="KalamehFaNum" pitchFamily="2" charset="-78"/>
              </a:rPr>
              <a:t> </a:t>
            </a:r>
          </a:p>
          <a:p>
            <a:pPr marL="0" indent="0" algn="r" rtl="1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050" dirty="0">
                <a:effectLst/>
                <a:latin typeface="KalamehFaNum" pitchFamily="2" charset="-78"/>
                <a:cs typeface="KalamehFaNum" pitchFamily="2" charset="-78"/>
              </a:rPr>
              <a:t>Norris (2011), </a:t>
            </a:r>
            <a:r>
              <a:rPr lang="en-US" sz="1050" i="1" dirty="0">
                <a:effectLst/>
                <a:latin typeface="KalamehFaNum" pitchFamily="2" charset="-78"/>
                <a:cs typeface="KalamehFaNum" pitchFamily="2" charset="-78"/>
              </a:rPr>
              <a:t>Political Studies Review</a:t>
            </a:r>
            <a:endParaRPr lang="fa-IR" sz="1050" i="1" dirty="0">
              <a:effectLst/>
              <a:latin typeface="KalamehFaNum" pitchFamily="2" charset="-78"/>
              <a:cs typeface="KalamehFaNum" pitchFamily="2" charset="-78"/>
            </a:endParaRPr>
          </a:p>
          <a:p>
            <a:pPr marL="0" indent="0" algn="r" rtl="1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050" dirty="0">
                <a:effectLst/>
                <a:latin typeface="KalamehFaNum" pitchFamily="2" charset="-78"/>
                <a:cs typeface="KalamehFaNum" pitchFamily="2" charset="-78"/>
              </a:rPr>
              <a:t>UNESCO (2017), </a:t>
            </a:r>
            <a:r>
              <a:rPr lang="en-US" sz="1050" i="1" dirty="0">
                <a:effectLst/>
                <a:latin typeface="KalamehFaNum" pitchFamily="2" charset="-78"/>
                <a:cs typeface="KalamehFaNum" pitchFamily="2" charset="-78"/>
              </a:rPr>
              <a:t>Global Education Monitoring Report</a:t>
            </a:r>
            <a:endParaRPr lang="fa-IR" sz="1050" i="1" dirty="0">
              <a:latin typeface="KalamehFaNum" pitchFamily="2" charset="-78"/>
              <a:cs typeface="KalamehFaNum" pitchFamily="2" charset="-78"/>
            </a:endParaRPr>
          </a:p>
          <a:p>
            <a:pPr marL="0" indent="0" algn="r" rtl="1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050" dirty="0">
                <a:effectLst/>
                <a:latin typeface="KalamehFaNum" pitchFamily="2" charset="-78"/>
                <a:cs typeface="KalamehFaNum" pitchFamily="2" charset="-78"/>
              </a:rPr>
              <a:t>Smith &amp; Duggan (2012), </a:t>
            </a:r>
            <a:r>
              <a:rPr lang="en-US" sz="1050" i="1" dirty="0">
                <a:effectLst/>
                <a:latin typeface="KalamehFaNum" pitchFamily="2" charset="-78"/>
                <a:cs typeface="KalamehFaNum" pitchFamily="2" charset="-78"/>
              </a:rPr>
              <a:t>Journal of Literacy Research</a:t>
            </a:r>
            <a:endParaRPr lang="en-US" sz="1050" dirty="0">
              <a:effectLst/>
              <a:latin typeface="KalamehFaNum" pitchFamily="2" charset="-78"/>
              <a:cs typeface="KalamehFaNum" pitchFamily="2" charset="-78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347AE7-D6A2-42FB-3D58-6297742FC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7637" y="6226198"/>
            <a:ext cx="376533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A6DA00-E07B-32E8-553E-31827FF3E5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237" t="28217" r="14045" b="5688"/>
          <a:stretch/>
        </p:blipFill>
        <p:spPr>
          <a:xfrm>
            <a:off x="77660" y="2681922"/>
            <a:ext cx="7189050" cy="372683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227874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053F5-4594-5231-C3D6-EAA327F5F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9620" y="234594"/>
            <a:ext cx="8843050" cy="1616904"/>
          </a:xfrm>
        </p:spPr>
        <p:txBody>
          <a:bodyPr/>
          <a:lstStyle/>
          <a:p>
            <a:pPr algn="r" rtl="1">
              <a:lnSpc>
                <a:spcPct val="150000"/>
              </a:lnSpc>
            </a:pPr>
            <a:r>
              <a:rPr lang="fa-IR" sz="3600" b="1" dirty="0">
                <a:latin typeface="Sahel" panose="020B0603030804020204" pitchFamily="34" charset="-78"/>
                <a:cs typeface="Sahel" panose="020B0603030804020204" pitchFamily="34" charset="-78"/>
              </a:rPr>
              <a:t>چالش</a:t>
            </a:r>
            <a:br>
              <a:rPr lang="fa-IR" b="1" dirty="0">
                <a:latin typeface="Sahel" panose="020B0603030804020204" pitchFamily="34" charset="-78"/>
                <a:cs typeface="Sahel" panose="020B0603030804020204" pitchFamily="34" charset="-78"/>
              </a:rPr>
            </a:br>
            <a:r>
              <a:rPr lang="fa-IR" sz="2000" b="1" dirty="0">
                <a:solidFill>
                  <a:srgbClr val="FFFFCC"/>
                </a:solidFill>
                <a:latin typeface="Sahel" panose="020B0603030804020204" pitchFamily="34" charset="-78"/>
                <a:cs typeface="Sahel" panose="020B0603030804020204" pitchFamily="34" charset="-78"/>
              </a:rPr>
              <a:t>«بر اساس آمار موسسه مطالعاتی اقتصاد و صلح (شاخص جهانی صلح)»</a:t>
            </a:r>
            <a:endParaRPr lang="en-US" sz="2400" b="1" dirty="0">
              <a:solidFill>
                <a:srgbClr val="FFFFCC"/>
              </a:solidFill>
              <a:latin typeface="Sahel" panose="020B0603030804020204" pitchFamily="34" charset="-78"/>
              <a:cs typeface="Sahel" panose="020B0603030804020204" pitchFamily="34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DD86B-69DE-4C13-FBC3-13E1E46799FB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2373002" y="2238728"/>
            <a:ext cx="8742038" cy="4185919"/>
          </a:xfrm>
        </p:spPr>
        <p:txBody>
          <a:bodyPr/>
          <a:lstStyle/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fa-IR" dirty="0">
                <a:latin typeface="KalamehFaNum" pitchFamily="2" charset="-78"/>
                <a:cs typeface="KalamehFaNum" pitchFamily="2" charset="-78"/>
              </a:rPr>
              <a:t>ارتباط بالای خشونت در افراد بی سواد و نا آشنا با کتاب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fa-IR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KalamehFaNum" pitchFamily="2" charset="-78"/>
                <a:cs typeface="KalamehFaNum" pitchFamily="2" charset="-78"/>
              </a:rPr>
              <a:t>رابطه مستقیم و معنا دار بین سواد و سرانه مطالعه با میزان خشونت یا جرم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fa-IR" sz="1800" dirty="0">
                <a:latin typeface="KalamehFaNum" pitchFamily="2" charset="-78"/>
                <a:cs typeface="KalamehFaNum" pitchFamily="2" charset="-78"/>
              </a:rPr>
              <a:t>درک متقابل از شرایط افراد، مهارت همدلی، کمک به دیگران نیاز های یک کودک در بزرگسالی از طریق کتاب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fa-IR" sz="1800" dirty="0">
                <a:latin typeface="KalamehFaNum" pitchFamily="2" charset="-78"/>
                <a:cs typeface="KalamehFaNum" pitchFamily="2" charset="-78"/>
              </a:rPr>
              <a:t>آموزش پایه ای ترین مهارت ها از طریق کتاب</a:t>
            </a:r>
            <a:endParaRPr lang="fa-IR" sz="1800" b="1" dirty="0">
              <a:effectLst/>
              <a:latin typeface="KalamehFaNum" pitchFamily="2" charset="-78"/>
              <a:cs typeface="KalamehFaNum" pitchFamily="2" charset="-78"/>
            </a:endParaRPr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fa-IR" b="1" dirty="0">
              <a:solidFill>
                <a:schemeClr val="accent1">
                  <a:lumMod val="60000"/>
                  <a:lumOff val="40000"/>
                </a:schemeClr>
              </a:solidFill>
              <a:latin typeface="KalamehFaNum" pitchFamily="2" charset="-78"/>
              <a:cs typeface="KalamehFaNum" pitchFamily="2" charset="-78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29E26C-1B39-CFAE-08FF-5917750AB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3127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FF9B776-6CDF-FB93-0D1A-C0BCD3EB72EF}"/>
              </a:ext>
            </a:extLst>
          </p:cNvPr>
          <p:cNvSpPr/>
          <p:nvPr/>
        </p:nvSpPr>
        <p:spPr>
          <a:xfrm>
            <a:off x="97790" y="2389517"/>
            <a:ext cx="4420237" cy="4201806"/>
          </a:xfrm>
          <a:prstGeom prst="roundRect">
            <a:avLst/>
          </a:prstGeom>
          <a:solidFill>
            <a:srgbClr val="26076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F60903-003B-273E-3584-5312F76C3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2653" y="1068591"/>
            <a:ext cx="8016755" cy="544546"/>
          </a:xfrm>
        </p:spPr>
        <p:txBody>
          <a:bodyPr/>
          <a:lstStyle/>
          <a:p>
            <a:pPr algn="r" rtl="1"/>
            <a:r>
              <a:rPr lang="fa-IR" sz="2800" b="1" dirty="0">
                <a:latin typeface="Sahel" panose="020B0603030804020204" pitchFamily="34" charset="-78"/>
                <a:cs typeface="Sahel" panose="020B0603030804020204" pitchFamily="34" charset="-78"/>
              </a:rPr>
              <a:t>ضرورت اجرای طرح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160DFF-2E7E-7A22-819A-C011020DFF01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4663483" y="2324123"/>
            <a:ext cx="6517966" cy="4042171"/>
          </a:xfrm>
        </p:spPr>
        <p:txBody>
          <a:bodyPr/>
          <a:lstStyle/>
          <a:p>
            <a:pPr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1400" b="1" dirty="0">
                <a:latin typeface="KalamehFaNum" pitchFamily="2" charset="-78"/>
                <a:cs typeface="KalamehFaNum" pitchFamily="2" charset="-78"/>
              </a:rPr>
              <a:t>سبک زندگی پرمشغله و کمبود زمان: </a:t>
            </a:r>
            <a:r>
              <a:rPr lang="fa-IR" sz="1400" dirty="0">
                <a:latin typeface="KalamehFaNum" pitchFamily="2" charset="-78"/>
                <a:cs typeface="KalamehFaNum" pitchFamily="2" charset="-78"/>
              </a:rPr>
              <a:t>گرایش افراد به کتاب‌های صوتی</a:t>
            </a:r>
          </a:p>
          <a:p>
            <a:pPr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1400" b="1" dirty="0">
                <a:latin typeface="KalamehFaNum" pitchFamily="2" charset="-78"/>
                <a:cs typeface="KalamehFaNum" pitchFamily="2" charset="-78"/>
              </a:rPr>
              <a:t>جذابیت پلتفرم‌های سرگرمی دیجیتال</a:t>
            </a:r>
            <a:r>
              <a:rPr lang="fa-IR" sz="1400" dirty="0">
                <a:latin typeface="KalamehFaNum" pitchFamily="2" charset="-78"/>
                <a:cs typeface="KalamehFaNum" pitchFamily="2" charset="-78"/>
              </a:rPr>
              <a:t>: جذب مخاطبان از طریق شبکه‌های اجتماعی و بازی‌های ویدئویی</a:t>
            </a:r>
          </a:p>
          <a:p>
            <a:pPr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1400" b="1" dirty="0">
                <a:latin typeface="KalamehFaNum" pitchFamily="2" charset="-78"/>
                <a:cs typeface="KalamehFaNum" pitchFamily="2" charset="-78"/>
              </a:rPr>
              <a:t>نبود ابزارهای مطالعه آسان و تعاملی: </a:t>
            </a:r>
            <a:r>
              <a:rPr lang="fa-IR" sz="1400" dirty="0">
                <a:latin typeface="KalamehFaNum" pitchFamily="2" charset="-78"/>
                <a:cs typeface="KalamehFaNum" pitchFamily="2" charset="-78"/>
              </a:rPr>
              <a:t>عدم وجود امکانات تعاملی و ایجاد همبستگی و بستری برای تضارب عقاید در پلتفرم های مشابه</a:t>
            </a:r>
            <a:endParaRPr lang="fa-IR" sz="1400" b="1" dirty="0">
              <a:latin typeface="KalamehFaNum" pitchFamily="2" charset="-78"/>
              <a:cs typeface="KalamehFaNum" pitchFamily="2" charset="-78"/>
            </a:endParaRPr>
          </a:p>
          <a:p>
            <a:pPr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1400" b="1" dirty="0">
                <a:latin typeface="KalamehFaNum" pitchFamily="2" charset="-78"/>
                <a:cs typeface="KalamehFaNum" pitchFamily="2" charset="-78"/>
              </a:rPr>
              <a:t>عدم جذابیت قالب‌های سنتی: </a:t>
            </a:r>
            <a:r>
              <a:rPr lang="fa-IR" sz="1400" dirty="0">
                <a:latin typeface="KalamehFaNum" pitchFamily="2" charset="-78"/>
                <a:cs typeface="KalamehFaNum" pitchFamily="2" charset="-78"/>
              </a:rPr>
              <a:t>ناکامی در جذب جوانان توسط پلتفرم‌های موجود</a:t>
            </a:r>
          </a:p>
          <a:p>
            <a:pPr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1400" b="1" dirty="0">
                <a:latin typeface="KalamehFaNum" pitchFamily="2" charset="-78"/>
                <a:cs typeface="KalamehFaNum" pitchFamily="2" charset="-78"/>
              </a:rPr>
              <a:t>عدم ورود کافی پلتفرم های موجود به حوزه کودک: </a:t>
            </a:r>
            <a:r>
              <a:rPr lang="fa-IR" sz="1400" dirty="0">
                <a:latin typeface="KalamehFaNum" pitchFamily="2" charset="-78"/>
                <a:cs typeface="KalamehFaNum" pitchFamily="2" charset="-78"/>
              </a:rPr>
              <a:t>بی توجهی پلتفرم های حاضر به حوزه کودک با توجه به آمار روبرو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347AE7-D6A2-42FB-3D58-6297742FC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DFF17D3-C1F0-5DD6-EEB8-519D40A95083}"/>
              </a:ext>
            </a:extLst>
          </p:cNvPr>
          <p:cNvSpPr txBox="1">
            <a:spLocks/>
          </p:cNvSpPr>
          <p:nvPr/>
        </p:nvSpPr>
        <p:spPr>
          <a:xfrm>
            <a:off x="499824" y="5088600"/>
            <a:ext cx="3761625" cy="13639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85750" indent="-28575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Biome" panose="020B0503030204020804" pitchFamily="34" charset="0"/>
              </a:defRPr>
            </a:lvl1pPr>
            <a:lvl2pPr marL="800100" indent="-3429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lnSpc>
                <a:spcPct val="150000"/>
              </a:lnSpc>
              <a:buNone/>
            </a:pPr>
            <a:r>
              <a:rPr lang="fa-IR" sz="1600" b="1" dirty="0">
                <a:latin typeface="KalamehFaNum" pitchFamily="2" charset="-78"/>
                <a:cs typeface="KalamehFaNum" pitchFamily="2" charset="-78"/>
              </a:rPr>
              <a:t>درصد جمعیت افرادی در آمریکا که در سال حداقل یک بار به کتاب صوتی گوش دادند</a:t>
            </a:r>
          </a:p>
          <a:p>
            <a:pPr marL="0" indent="0" algn="ctr" rtl="1">
              <a:lnSpc>
                <a:spcPct val="150000"/>
              </a:lnSpc>
              <a:buNone/>
            </a:pPr>
            <a:r>
              <a:rPr lang="fa-IR" sz="1600" b="1" dirty="0">
                <a:latin typeface="KalamehFaNum" pitchFamily="2" charset="-78"/>
                <a:cs typeface="KalamehFaNum" pitchFamily="2" charset="-78"/>
              </a:rPr>
              <a:t>منبع: </a:t>
            </a:r>
            <a:r>
              <a:rPr lang="en-US" sz="1600" b="1" dirty="0" err="1">
                <a:latin typeface="KalamehFaNum" pitchFamily="2" charset="-78"/>
                <a:cs typeface="KalamehFaNum" pitchFamily="2" charset="-78"/>
              </a:rPr>
              <a:t>grandviewresearch</a:t>
            </a:r>
            <a:endParaRPr lang="fa-IR" sz="1600" b="1" dirty="0">
              <a:latin typeface="KalamehFaNum" pitchFamily="2" charset="-78"/>
              <a:cs typeface="KalamehFaNum" pitchFamily="2" charset="-78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62402B8-0429-6025-0B68-4EBEFA3B37F9}"/>
              </a:ext>
            </a:extLst>
          </p:cNvPr>
          <p:cNvSpPr/>
          <p:nvPr/>
        </p:nvSpPr>
        <p:spPr>
          <a:xfrm>
            <a:off x="97789" y="2389518"/>
            <a:ext cx="4420237" cy="2699082"/>
          </a:xfrm>
          <a:prstGeom prst="round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13BCC4-ADF1-6D70-5533-E88981D80943}"/>
              </a:ext>
            </a:extLst>
          </p:cNvPr>
          <p:cNvSpPr/>
          <p:nvPr/>
        </p:nvSpPr>
        <p:spPr>
          <a:xfrm>
            <a:off x="3165894" y="1940942"/>
            <a:ext cx="1440611" cy="120771"/>
          </a:xfrm>
          <a:prstGeom prst="rect">
            <a:avLst/>
          </a:prstGeom>
          <a:solidFill>
            <a:srgbClr val="0104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415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C971D-ED0D-E569-8B57-1FBC659FE779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390940" y="2153688"/>
            <a:ext cx="8016755" cy="4457781"/>
          </a:xfrm>
        </p:spPr>
        <p:txBody>
          <a:bodyPr/>
          <a:lstStyle/>
          <a:p>
            <a:pPr algn="r" rtl="1">
              <a:buFont typeface="Arial" panose="020B0604020202020204" pitchFamily="34" charset="0"/>
              <a:buChar char="•"/>
            </a:pPr>
            <a:r>
              <a:rPr lang="fa-IR" sz="1600" dirty="0">
                <a:effectLst/>
                <a:latin typeface="KalamehFaNum" pitchFamily="2" charset="-78"/>
                <a:cs typeface="KalamehFaNum" pitchFamily="2" charset="-78"/>
              </a:rPr>
              <a:t>برگزاری نمایشگاه‌های کتاب (مانند نمایشگاه بین‌المللی کتاب تهران)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fa-IR" sz="1600" dirty="0">
                <a:effectLst/>
                <a:latin typeface="KalamehFaNum" pitchFamily="2" charset="-78"/>
                <a:cs typeface="KalamehFaNum" pitchFamily="2" charset="-78"/>
              </a:rPr>
              <a:t>حمایت مالی و یارانه‌ای برای خرید کتاب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fa-IR" sz="1600" dirty="0">
                <a:effectLst/>
                <a:latin typeface="KalamehFaNum" pitchFamily="2" charset="-78"/>
                <a:cs typeface="KalamehFaNum" pitchFamily="2" charset="-78"/>
              </a:rPr>
              <a:t>ترویج کتاب‌خوانی در مدارس و دانشگاه‌ها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fa-IR" sz="1600" dirty="0">
                <a:effectLst/>
                <a:latin typeface="KalamehFaNum" pitchFamily="2" charset="-78"/>
                <a:cs typeface="KalamehFaNum" pitchFamily="2" charset="-78"/>
              </a:rPr>
              <a:t>اجرای طرح کتابخانه‌های سیار و توسعه کتابخانه‌های عمومی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fa-IR" sz="1600" dirty="0">
                <a:effectLst/>
                <a:latin typeface="KalamehFaNum" pitchFamily="2" charset="-78"/>
                <a:cs typeface="KalamehFaNum" pitchFamily="2" charset="-78"/>
              </a:rPr>
              <a:t>کمپین‌ها و پویش‌های فرهنگی (مانند «کتاب‌خوانی خانوادگی»)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fa-IR" sz="1600" dirty="0">
                <a:effectLst/>
                <a:latin typeface="KalamehFaNum" pitchFamily="2" charset="-78"/>
                <a:cs typeface="KalamehFaNum" pitchFamily="2" charset="-78"/>
              </a:rPr>
              <a:t>برگزاری مسابقات و جشنواره‌های کتاب‌خوانی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fa-IR" sz="1600" dirty="0">
                <a:effectLst/>
                <a:latin typeface="KalamehFaNum" pitchFamily="2" charset="-78"/>
                <a:cs typeface="KalamehFaNum" pitchFamily="2" charset="-78"/>
              </a:rPr>
              <a:t>معرفی و تبلیغ کتاب در رسانه‌های ملی و شبکه‌های اجتماعی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fa-IR" sz="1600" dirty="0">
                <a:effectLst/>
                <a:latin typeface="KalamehFaNum" pitchFamily="2" charset="-78"/>
                <a:cs typeface="KalamehFaNum" pitchFamily="2" charset="-78"/>
              </a:rPr>
              <a:t>همکاری با نویسندگان و ناشران برای تولید آثار جذاب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fa-IR" b="1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KalamehFaNum" pitchFamily="2" charset="-78"/>
                <a:cs typeface="KalamehFaNum" pitchFamily="2" charset="-78"/>
              </a:rPr>
              <a:t>توسعه پلتفرم‌های کتاب صوتی و دیجیتال (مانند فیدیبو، طاقچه، نوار</a:t>
            </a:r>
            <a:r>
              <a:rPr lang="fa-IR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KalamehFaNum" pitchFamily="2" charset="-78"/>
                <a:cs typeface="KalamehFaNum" pitchFamily="2" charset="-78"/>
              </a:rPr>
              <a:t>، کتابراه</a:t>
            </a:r>
            <a:r>
              <a:rPr lang="fa-IR" b="1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KalamehFaNum" pitchFamily="2" charset="-78"/>
                <a:cs typeface="KalamehFaNum" pitchFamily="2" charset="-78"/>
              </a:rPr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E485BD-4708-F6C9-2B40-F26D04C2D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5AE4C5E-1355-C180-3E26-78C302948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0941" y="1109489"/>
            <a:ext cx="8016755" cy="544546"/>
          </a:xfrm>
        </p:spPr>
        <p:txBody>
          <a:bodyPr/>
          <a:lstStyle/>
          <a:p>
            <a:pPr algn="r" rtl="1"/>
            <a:r>
              <a:rPr lang="fa-IR" sz="3600" b="1" dirty="0">
                <a:latin typeface="Sahel" panose="020B0603030804020204" pitchFamily="34" charset="-78"/>
                <a:cs typeface="Sahel" panose="020B0603030804020204" pitchFamily="34" charset="-78"/>
              </a:rPr>
              <a:t>راهکارهای فعلی</a:t>
            </a:r>
          </a:p>
        </p:txBody>
      </p:sp>
    </p:spTree>
    <p:extLst>
      <p:ext uri="{BB962C8B-B14F-4D97-AF65-F5344CB8AC3E}">
        <p14:creationId xmlns:p14="http://schemas.microsoft.com/office/powerpoint/2010/main" val="1623320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6BBE2D6-5AEA-E421-1E25-84DA08C587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438" y="1496845"/>
            <a:ext cx="8030042" cy="75639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0984F-52DA-C007-9ADD-EB6CA6F688C7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2600960" y="1515750"/>
            <a:ext cx="9180998" cy="4587600"/>
          </a:xfrm>
        </p:spPr>
        <p:txBody>
          <a:bodyPr/>
          <a:lstStyle/>
          <a:p>
            <a:pPr algn="just" rtl="1">
              <a:lnSpc>
                <a:spcPct val="150000"/>
              </a:lnSpc>
              <a:buFont typeface="+mj-lt"/>
              <a:buAutoNum type="arabicPeriod"/>
            </a:pPr>
            <a:r>
              <a:rPr lang="fa-IR" sz="1800" b="1" dirty="0">
                <a:effectLst/>
                <a:latin typeface="KalamehFaNum" pitchFamily="2" charset="-78"/>
                <a:cs typeface="KalamehFaNum" pitchFamily="2" charset="-78"/>
              </a:rPr>
              <a:t>عدم شخصی‌سازی تجربه کاربری:</a:t>
            </a:r>
            <a:r>
              <a:rPr lang="fa-IR" sz="1800" dirty="0">
                <a:effectLst/>
                <a:latin typeface="KalamehFaNum" pitchFamily="2" charset="-78"/>
                <a:cs typeface="KalamehFaNum" pitchFamily="2" charset="-78"/>
              </a:rPr>
              <a:t> عدم وجود توانایی کافی برای تشخیص علایق کاربران و ارائه پیشنهادات مناسب در پلتفرم‌های مشابه</a:t>
            </a:r>
          </a:p>
          <a:p>
            <a:pPr algn="just" rtl="1">
              <a:lnSpc>
                <a:spcPct val="150000"/>
              </a:lnSpc>
              <a:buFont typeface="+mj-lt"/>
              <a:buAutoNum type="arabicPeriod"/>
            </a:pPr>
            <a:r>
              <a:rPr lang="fa-IR" sz="1800" b="1" dirty="0">
                <a:effectLst/>
                <a:latin typeface="KalamehFaNum" pitchFamily="2" charset="-78"/>
                <a:cs typeface="KalamehFaNum" pitchFamily="2" charset="-78"/>
              </a:rPr>
              <a:t>عدم امکان آپلود </a:t>
            </a:r>
            <a:r>
              <a:rPr lang="en-US" sz="1800" b="1" dirty="0">
                <a:effectLst/>
                <a:latin typeface="KalamehFaNum" pitchFamily="2" charset="-78"/>
                <a:cs typeface="KalamehFaNum" pitchFamily="2" charset="-78"/>
              </a:rPr>
              <a:t> pdf </a:t>
            </a:r>
            <a:r>
              <a:rPr lang="fa-IR" sz="1800" b="1" dirty="0">
                <a:effectLst/>
                <a:latin typeface="KalamehFaNum" pitchFamily="2" charset="-78"/>
                <a:cs typeface="KalamehFaNum" pitchFamily="2" charset="-78"/>
              </a:rPr>
              <a:t>شخصی برای مطالعه و تبدیل به صوت: </a:t>
            </a:r>
            <a:r>
              <a:rPr lang="fa-IR" sz="1800" dirty="0">
                <a:effectLst/>
                <a:latin typeface="KalamehFaNum" pitchFamily="2" charset="-78"/>
                <a:cs typeface="KalamehFaNum" pitchFamily="2" charset="-78"/>
              </a:rPr>
              <a:t>عدم وجود قابلیت آپلود </a:t>
            </a:r>
            <a:r>
              <a:rPr lang="en-US" sz="1800" dirty="0">
                <a:effectLst/>
                <a:latin typeface="KalamehFaNum" pitchFamily="2" charset="-78"/>
                <a:cs typeface="KalamehFaNum" pitchFamily="2" charset="-78"/>
              </a:rPr>
              <a:t>pdf</a:t>
            </a:r>
            <a:r>
              <a:rPr lang="fa-IR" sz="1800" dirty="0">
                <a:effectLst/>
                <a:latin typeface="KalamehFaNum" pitchFamily="2" charset="-78"/>
                <a:cs typeface="KalamehFaNum" pitchFamily="2" charset="-78"/>
              </a:rPr>
              <a:t> کتاب ها برای تبدیل آنها به صوت</a:t>
            </a:r>
          </a:p>
          <a:p>
            <a:pPr algn="just" rtl="1">
              <a:lnSpc>
                <a:spcPct val="150000"/>
              </a:lnSpc>
              <a:buFont typeface="+mj-lt"/>
              <a:buAutoNum type="arabicPeriod"/>
            </a:pPr>
            <a:r>
              <a:rPr lang="fa-IR" sz="1800" b="1" dirty="0">
                <a:effectLst/>
                <a:latin typeface="KalamehFaNum" pitchFamily="2" charset="-78"/>
                <a:cs typeface="KalamehFaNum" pitchFamily="2" charset="-78"/>
              </a:rPr>
              <a:t>نبود ابزارهای هوشمند برای تحلیل و تعامل با محتوا:</a:t>
            </a:r>
            <a:r>
              <a:rPr lang="fa-IR" sz="1800" dirty="0">
                <a:effectLst/>
                <a:latin typeface="KalamehFaNum" pitchFamily="2" charset="-78"/>
                <a:cs typeface="KalamehFaNum" pitchFamily="2" charset="-78"/>
              </a:rPr>
              <a:t> عدم وجود بستری برای کاربران که بتوانند با محتوای کتاب‌ها به صورت هوشمندانه و تعاملی ارتباط برقرار کنند، مانند دریافت پاسخ به سوالات درباره محتوای کتاب</a:t>
            </a:r>
          </a:p>
          <a:p>
            <a:pPr algn="just" rtl="1">
              <a:lnSpc>
                <a:spcPct val="150000"/>
              </a:lnSpc>
              <a:buFont typeface="+mj-lt"/>
              <a:buAutoNum type="arabicPeriod"/>
            </a:pPr>
            <a:r>
              <a:rPr lang="fa-IR" sz="1800" b="1" dirty="0">
                <a:effectLst/>
                <a:latin typeface="KalamehFaNum" pitchFamily="2" charset="-78"/>
                <a:cs typeface="KalamehFaNum" pitchFamily="2" charset="-78"/>
              </a:rPr>
              <a:t>مشارکت محدود کاربران در تولید محتوا:</a:t>
            </a:r>
            <a:r>
              <a:rPr lang="fa-IR" sz="1800" dirty="0">
                <a:effectLst/>
                <a:latin typeface="KalamehFaNum" pitchFamily="2" charset="-78"/>
                <a:cs typeface="KalamehFaNum" pitchFamily="2" charset="-78"/>
              </a:rPr>
              <a:t> عدم وجود بستری برای تولید محتوای استعداد ها و قومیت های مختلف ایرانی در بستر پویش های مختلف و مناسبتی در فضای کتاب صوتی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C8A7BC-05AB-375D-D30F-DF59A0376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ED06688-75CA-F8CE-01C9-B9D869143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5421" y="497896"/>
            <a:ext cx="8016755" cy="544546"/>
          </a:xfrm>
        </p:spPr>
        <p:txBody>
          <a:bodyPr/>
          <a:lstStyle/>
          <a:p>
            <a:pPr algn="r" rtl="1"/>
            <a:r>
              <a:rPr lang="fa-IR" sz="2800" b="1" dirty="0">
                <a:latin typeface="Sahel" panose="020B0603030804020204" pitchFamily="34" charset="-78"/>
                <a:cs typeface="Sahel" panose="020B0603030804020204" pitchFamily="34" charset="-78"/>
              </a:rPr>
              <a:t>کمبودهای راهکارهای فعلی</a:t>
            </a:r>
          </a:p>
        </p:txBody>
      </p:sp>
    </p:spTree>
    <p:extLst>
      <p:ext uri="{BB962C8B-B14F-4D97-AF65-F5344CB8AC3E}">
        <p14:creationId xmlns:p14="http://schemas.microsoft.com/office/powerpoint/2010/main" val="4207012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FF9B776-6CDF-FB93-0D1A-C0BCD3EB72EF}"/>
              </a:ext>
            </a:extLst>
          </p:cNvPr>
          <p:cNvSpPr/>
          <p:nvPr/>
        </p:nvSpPr>
        <p:spPr>
          <a:xfrm>
            <a:off x="158352" y="525946"/>
            <a:ext cx="4097546" cy="5996478"/>
          </a:xfrm>
          <a:prstGeom prst="roundRect">
            <a:avLst/>
          </a:prstGeom>
          <a:solidFill>
            <a:srgbClr val="26076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F60903-003B-273E-3584-5312F76C3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7160" y="1215816"/>
            <a:ext cx="8016755" cy="544546"/>
          </a:xfrm>
        </p:spPr>
        <p:txBody>
          <a:bodyPr/>
          <a:lstStyle/>
          <a:p>
            <a:pPr algn="r" rtl="1"/>
            <a:r>
              <a:rPr lang="fa-IR" sz="2800" b="1" dirty="0">
                <a:latin typeface="Sahel" panose="020B0603030804020204" pitchFamily="34" charset="-78"/>
                <a:cs typeface="Sahel" panose="020B0603030804020204" pitchFamily="34" charset="-78"/>
              </a:rPr>
              <a:t>کمبودهای راهکارهای فعلی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160DFF-2E7E-7A22-819A-C011020DFF01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4491543" y="2299317"/>
            <a:ext cx="6792372" cy="4223107"/>
          </a:xfrm>
        </p:spPr>
        <p:txBody>
          <a:bodyPr/>
          <a:lstStyle/>
          <a:p>
            <a:pPr algn="just" rtl="1">
              <a:lnSpc>
                <a:spcPct val="150000"/>
              </a:lnSpc>
            </a:pPr>
            <a:r>
              <a:rPr lang="fa-IR" sz="1400" b="1" dirty="0">
                <a:effectLst/>
                <a:latin typeface="KalamehFaNum" pitchFamily="2" charset="-78"/>
                <a:cs typeface="KalamehFaNum" pitchFamily="2" charset="-78"/>
              </a:rPr>
              <a:t>کم توجهی به تنوع زبانی و فرهنگی و کمبود محتوای متناسب برای اقوام مختل</a:t>
            </a:r>
            <a:r>
              <a:rPr lang="fa-IR" sz="1400" b="1" dirty="0">
                <a:latin typeface="KalamehFaNum" pitchFamily="2" charset="-78"/>
                <a:cs typeface="KalamehFaNum" pitchFamily="2" charset="-78"/>
              </a:rPr>
              <a:t>ف:</a:t>
            </a:r>
            <a:r>
              <a:rPr lang="fa-IR" sz="1400" dirty="0">
                <a:effectLst/>
                <a:latin typeface="KalamehFaNum" pitchFamily="2" charset="-78"/>
                <a:cs typeface="KalamehFaNum" pitchFamily="2" charset="-78"/>
              </a:rPr>
              <a:t> نادیده گرفتن ظرفیت‌های قومیتی و کاهش دسترسی گروه‌ها به آموزش و فرهنگ</a:t>
            </a:r>
          </a:p>
          <a:p>
            <a:pPr algn="just" rtl="1">
              <a:lnSpc>
                <a:spcPct val="150000"/>
              </a:lnSpc>
            </a:pPr>
            <a:r>
              <a:rPr lang="fa-IR" sz="1400" b="1" dirty="0">
                <a:latin typeface="KalamehFaNum" pitchFamily="2" charset="-78"/>
                <a:cs typeface="KalamehFaNum" pitchFamily="2" charset="-78"/>
              </a:rPr>
              <a:t>عدم ورود به حوزه کودک: </a:t>
            </a:r>
            <a:r>
              <a:rPr lang="fa-IR" sz="1400" dirty="0">
                <a:latin typeface="KalamehFaNum" pitchFamily="2" charset="-78"/>
                <a:cs typeface="KalamehFaNum" pitchFamily="2" charset="-78"/>
              </a:rPr>
              <a:t>کمبود محتوا در حوزه کودک که طبق آمار رو به رو یکی از بازار های خوب میتواند باشد</a:t>
            </a:r>
          </a:p>
          <a:p>
            <a:pPr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1400" dirty="0">
                <a:latin typeface="KalamehFaNum" pitchFamily="2" charset="-78"/>
                <a:cs typeface="KalamehFaNum" pitchFamily="2" charset="-78"/>
              </a:rPr>
              <a:t>    </a:t>
            </a:r>
            <a:r>
              <a:rPr lang="fa-IR" sz="1400" b="1" dirty="0">
                <a:latin typeface="KalamehFaNum" pitchFamily="2" charset="-78"/>
                <a:cs typeface="KalamehFaNum" pitchFamily="2" charset="-78"/>
              </a:rPr>
              <a:t>عدم وجود قابلیت انتخاب صدای خواننده: </a:t>
            </a:r>
            <a:r>
              <a:rPr lang="fa-IR" sz="1400" dirty="0">
                <a:latin typeface="KalamehFaNum" pitchFamily="2" charset="-78"/>
                <a:cs typeface="KalamehFaNum" pitchFamily="2" charset="-78"/>
              </a:rPr>
              <a:t>نبود امکانات جذابی که بتواند کاربران را به سمت خود جذب کند مانند عدم وجود امکان تغییر دادن صدای خواننده کتاب صوتی با هوش منصوعی</a:t>
            </a:r>
          </a:p>
          <a:p>
            <a:pPr algn="just" rtl="1">
              <a:lnSpc>
                <a:spcPct val="150000"/>
              </a:lnSpc>
            </a:pPr>
            <a:r>
              <a:rPr lang="fa-IR" sz="1400" b="1" dirty="0">
                <a:latin typeface="KalamehFaNum" pitchFamily="2" charset="-78"/>
                <a:cs typeface="KalamehFaNum" pitchFamily="2" charset="-78"/>
              </a:rPr>
              <a:t>    نبود فضای همدلی و دوستانه: </a:t>
            </a:r>
            <a:r>
              <a:rPr lang="fa-IR" sz="1400" dirty="0">
                <a:latin typeface="KalamehFaNum" pitchFamily="2" charset="-78"/>
                <a:cs typeface="KalamehFaNum" pitchFamily="2" charset="-78"/>
              </a:rPr>
              <a:t>عدم وجود حس رقابت بین کاربران و حس همدلی دوستانه</a:t>
            </a:r>
          </a:p>
          <a:p>
            <a:pPr algn="just" rtl="1">
              <a:lnSpc>
                <a:spcPct val="150000"/>
              </a:lnSpc>
            </a:pPr>
            <a:r>
              <a:rPr lang="fa-IR" sz="1400" b="1" dirty="0">
                <a:latin typeface="KalamehFaNum" pitchFamily="2" charset="-78"/>
                <a:cs typeface="KalamehFaNum" pitchFamily="2" charset="-78"/>
              </a:rPr>
              <a:t>عدم توجه مناسب به افراد با ناتوانی های جسمی: </a:t>
            </a:r>
            <a:r>
              <a:rPr lang="fa-IR" sz="1400" dirty="0">
                <a:latin typeface="KalamehFaNum" pitchFamily="2" charset="-78"/>
                <a:cs typeface="KalamehFaNum" pitchFamily="2" charset="-78"/>
              </a:rPr>
              <a:t>عدم وجود امکاناتی مناسب برای افرادی با ناتوانی های جسمی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347AE7-D6A2-42FB-3D58-6297742FC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4563" y="6226198"/>
            <a:ext cx="249607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DFF17D3-C1F0-5DD6-EEB8-519D40A95083}"/>
              </a:ext>
            </a:extLst>
          </p:cNvPr>
          <p:cNvSpPr txBox="1">
            <a:spLocks/>
          </p:cNvSpPr>
          <p:nvPr/>
        </p:nvSpPr>
        <p:spPr>
          <a:xfrm>
            <a:off x="557436" y="5159749"/>
            <a:ext cx="3327321" cy="12104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85750" indent="-28575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Biome" panose="020B0503030204020804" pitchFamily="34" charset="0"/>
              </a:defRPr>
            </a:lvl1pPr>
            <a:lvl2pPr marL="800100" indent="-3429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lnSpc>
                <a:spcPct val="150000"/>
              </a:lnSpc>
              <a:buNone/>
            </a:pPr>
            <a:r>
              <a:rPr lang="fa-IR" sz="1400" b="1" dirty="0">
                <a:latin typeface="KalamehFaNum" pitchFamily="2" charset="-78"/>
                <a:cs typeface="KalamehFaNum" pitchFamily="2" charset="-78"/>
              </a:rPr>
              <a:t>رشد بازار کتابهای صوتی کودکانه، استراتژی های کلیدی، روندها و پیش بینی تا سال 2031</a:t>
            </a:r>
          </a:p>
          <a:p>
            <a:pPr marL="0" indent="0" algn="ctr" rtl="1">
              <a:lnSpc>
                <a:spcPct val="150000"/>
              </a:lnSpc>
              <a:buNone/>
            </a:pPr>
            <a:r>
              <a:rPr lang="fa-IR" sz="1400" b="1" dirty="0">
                <a:latin typeface="KalamehFaNum" pitchFamily="2" charset="-78"/>
                <a:cs typeface="KalamehFaNum" pitchFamily="2" charset="-78"/>
              </a:rPr>
              <a:t>منبع: </a:t>
            </a:r>
            <a:r>
              <a:rPr lang="en-US" sz="1400" b="1" dirty="0">
                <a:latin typeface="KalamehFaNum" pitchFamily="2" charset="-78"/>
                <a:cs typeface="KalamehFaNum" pitchFamily="2" charset="-78"/>
              </a:rPr>
              <a:t>the insight partners</a:t>
            </a:r>
            <a:endParaRPr lang="fa-IR" sz="1400" b="1" dirty="0">
              <a:latin typeface="KalamehFaNum" pitchFamily="2" charset="-78"/>
              <a:cs typeface="KalamehFaNum" pitchFamily="2" charset="-78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62402B8-0429-6025-0B68-4EBEFA3B37F9}"/>
              </a:ext>
            </a:extLst>
          </p:cNvPr>
          <p:cNvSpPr/>
          <p:nvPr/>
        </p:nvSpPr>
        <p:spPr>
          <a:xfrm>
            <a:off x="266151" y="610901"/>
            <a:ext cx="3909892" cy="4396646"/>
          </a:xfrm>
          <a:custGeom>
            <a:avLst/>
            <a:gdLst>
              <a:gd name="connsiteX0" fmla="*/ 0 w 3909892"/>
              <a:gd name="connsiteY0" fmla="*/ 651662 h 4408800"/>
              <a:gd name="connsiteX1" fmla="*/ 651662 w 3909892"/>
              <a:gd name="connsiteY1" fmla="*/ 0 h 4408800"/>
              <a:gd name="connsiteX2" fmla="*/ 3258230 w 3909892"/>
              <a:gd name="connsiteY2" fmla="*/ 0 h 4408800"/>
              <a:gd name="connsiteX3" fmla="*/ 3909892 w 3909892"/>
              <a:gd name="connsiteY3" fmla="*/ 651662 h 4408800"/>
              <a:gd name="connsiteX4" fmla="*/ 3909892 w 3909892"/>
              <a:gd name="connsiteY4" fmla="*/ 3757138 h 4408800"/>
              <a:gd name="connsiteX5" fmla="*/ 3258230 w 3909892"/>
              <a:gd name="connsiteY5" fmla="*/ 4408800 h 4408800"/>
              <a:gd name="connsiteX6" fmla="*/ 651662 w 3909892"/>
              <a:gd name="connsiteY6" fmla="*/ 4408800 h 4408800"/>
              <a:gd name="connsiteX7" fmla="*/ 0 w 3909892"/>
              <a:gd name="connsiteY7" fmla="*/ 3757138 h 4408800"/>
              <a:gd name="connsiteX8" fmla="*/ 0 w 3909892"/>
              <a:gd name="connsiteY8" fmla="*/ 651662 h 4408800"/>
              <a:gd name="connsiteX0" fmla="*/ 0 w 3909892"/>
              <a:gd name="connsiteY0" fmla="*/ 651662 h 4408800"/>
              <a:gd name="connsiteX1" fmla="*/ 651662 w 3909892"/>
              <a:gd name="connsiteY1" fmla="*/ 0 h 4408800"/>
              <a:gd name="connsiteX2" fmla="*/ 3258230 w 3909892"/>
              <a:gd name="connsiteY2" fmla="*/ 0 h 4408800"/>
              <a:gd name="connsiteX3" fmla="*/ 3909892 w 3909892"/>
              <a:gd name="connsiteY3" fmla="*/ 651662 h 4408800"/>
              <a:gd name="connsiteX4" fmla="*/ 3258230 w 3909892"/>
              <a:gd name="connsiteY4" fmla="*/ 4408800 h 4408800"/>
              <a:gd name="connsiteX5" fmla="*/ 651662 w 3909892"/>
              <a:gd name="connsiteY5" fmla="*/ 4408800 h 4408800"/>
              <a:gd name="connsiteX6" fmla="*/ 0 w 3909892"/>
              <a:gd name="connsiteY6" fmla="*/ 3757138 h 4408800"/>
              <a:gd name="connsiteX7" fmla="*/ 0 w 3909892"/>
              <a:gd name="connsiteY7" fmla="*/ 651662 h 4408800"/>
              <a:gd name="connsiteX0" fmla="*/ 0 w 3909892"/>
              <a:gd name="connsiteY0" fmla="*/ 651662 h 4408800"/>
              <a:gd name="connsiteX1" fmla="*/ 651662 w 3909892"/>
              <a:gd name="connsiteY1" fmla="*/ 0 h 4408800"/>
              <a:gd name="connsiteX2" fmla="*/ 3258230 w 3909892"/>
              <a:gd name="connsiteY2" fmla="*/ 0 h 4408800"/>
              <a:gd name="connsiteX3" fmla="*/ 3909892 w 3909892"/>
              <a:gd name="connsiteY3" fmla="*/ 651662 h 4408800"/>
              <a:gd name="connsiteX4" fmla="*/ 3853453 w 3909892"/>
              <a:gd name="connsiteY4" fmla="*/ 4400174 h 4408800"/>
              <a:gd name="connsiteX5" fmla="*/ 651662 w 3909892"/>
              <a:gd name="connsiteY5" fmla="*/ 4408800 h 4408800"/>
              <a:gd name="connsiteX6" fmla="*/ 0 w 3909892"/>
              <a:gd name="connsiteY6" fmla="*/ 3757138 h 4408800"/>
              <a:gd name="connsiteX7" fmla="*/ 0 w 3909892"/>
              <a:gd name="connsiteY7" fmla="*/ 651662 h 4408800"/>
              <a:gd name="connsiteX0" fmla="*/ 0 w 3909892"/>
              <a:gd name="connsiteY0" fmla="*/ 651662 h 4408800"/>
              <a:gd name="connsiteX1" fmla="*/ 651662 w 3909892"/>
              <a:gd name="connsiteY1" fmla="*/ 0 h 4408800"/>
              <a:gd name="connsiteX2" fmla="*/ 3258230 w 3909892"/>
              <a:gd name="connsiteY2" fmla="*/ 0 h 4408800"/>
              <a:gd name="connsiteX3" fmla="*/ 3909892 w 3909892"/>
              <a:gd name="connsiteY3" fmla="*/ 651662 h 4408800"/>
              <a:gd name="connsiteX4" fmla="*/ 3853453 w 3909892"/>
              <a:gd name="connsiteY4" fmla="*/ 4400174 h 4408800"/>
              <a:gd name="connsiteX5" fmla="*/ 651662 w 3909892"/>
              <a:gd name="connsiteY5" fmla="*/ 4408800 h 4408800"/>
              <a:gd name="connsiteX6" fmla="*/ 0 w 3909892"/>
              <a:gd name="connsiteY6" fmla="*/ 651662 h 4408800"/>
              <a:gd name="connsiteX0" fmla="*/ 179416 w 4089308"/>
              <a:gd name="connsiteY0" fmla="*/ 651662 h 4400174"/>
              <a:gd name="connsiteX1" fmla="*/ 831078 w 4089308"/>
              <a:gd name="connsiteY1" fmla="*/ 0 h 4400174"/>
              <a:gd name="connsiteX2" fmla="*/ 3437646 w 4089308"/>
              <a:gd name="connsiteY2" fmla="*/ 0 h 4400174"/>
              <a:gd name="connsiteX3" fmla="*/ 4089308 w 4089308"/>
              <a:gd name="connsiteY3" fmla="*/ 651662 h 4400174"/>
              <a:gd name="connsiteX4" fmla="*/ 4032869 w 4089308"/>
              <a:gd name="connsiteY4" fmla="*/ 4400174 h 4400174"/>
              <a:gd name="connsiteX5" fmla="*/ 330746 w 4089308"/>
              <a:gd name="connsiteY5" fmla="*/ 4374294 h 4400174"/>
              <a:gd name="connsiteX6" fmla="*/ 179416 w 4089308"/>
              <a:gd name="connsiteY6" fmla="*/ 651662 h 4400174"/>
              <a:gd name="connsiteX0" fmla="*/ 0 w 3909892"/>
              <a:gd name="connsiteY0" fmla="*/ 651662 h 4400174"/>
              <a:gd name="connsiteX1" fmla="*/ 651662 w 3909892"/>
              <a:gd name="connsiteY1" fmla="*/ 0 h 4400174"/>
              <a:gd name="connsiteX2" fmla="*/ 3258230 w 3909892"/>
              <a:gd name="connsiteY2" fmla="*/ 0 h 4400174"/>
              <a:gd name="connsiteX3" fmla="*/ 3909892 w 3909892"/>
              <a:gd name="connsiteY3" fmla="*/ 651662 h 4400174"/>
              <a:gd name="connsiteX4" fmla="*/ 3853453 w 3909892"/>
              <a:gd name="connsiteY4" fmla="*/ 4400174 h 4400174"/>
              <a:gd name="connsiteX5" fmla="*/ 151330 w 3909892"/>
              <a:gd name="connsiteY5" fmla="*/ 4374294 h 4400174"/>
              <a:gd name="connsiteX6" fmla="*/ 0 w 3909892"/>
              <a:gd name="connsiteY6" fmla="*/ 651662 h 4400174"/>
              <a:gd name="connsiteX0" fmla="*/ 0 w 3909892"/>
              <a:gd name="connsiteY0" fmla="*/ 651662 h 4400174"/>
              <a:gd name="connsiteX1" fmla="*/ 651662 w 3909892"/>
              <a:gd name="connsiteY1" fmla="*/ 0 h 4400174"/>
              <a:gd name="connsiteX2" fmla="*/ 3258230 w 3909892"/>
              <a:gd name="connsiteY2" fmla="*/ 0 h 4400174"/>
              <a:gd name="connsiteX3" fmla="*/ 3909892 w 3909892"/>
              <a:gd name="connsiteY3" fmla="*/ 651662 h 4400174"/>
              <a:gd name="connsiteX4" fmla="*/ 3853453 w 3909892"/>
              <a:gd name="connsiteY4" fmla="*/ 4400174 h 4400174"/>
              <a:gd name="connsiteX5" fmla="*/ 21934 w 3909892"/>
              <a:gd name="connsiteY5" fmla="*/ 4374294 h 4400174"/>
              <a:gd name="connsiteX6" fmla="*/ 0 w 3909892"/>
              <a:gd name="connsiteY6" fmla="*/ 651662 h 4400174"/>
              <a:gd name="connsiteX0" fmla="*/ 0 w 3909892"/>
              <a:gd name="connsiteY0" fmla="*/ 651662 h 4400174"/>
              <a:gd name="connsiteX1" fmla="*/ 651662 w 3909892"/>
              <a:gd name="connsiteY1" fmla="*/ 0 h 4400174"/>
              <a:gd name="connsiteX2" fmla="*/ 3258230 w 3909892"/>
              <a:gd name="connsiteY2" fmla="*/ 0 h 4400174"/>
              <a:gd name="connsiteX3" fmla="*/ 3909892 w 3909892"/>
              <a:gd name="connsiteY3" fmla="*/ 651662 h 4400174"/>
              <a:gd name="connsiteX4" fmla="*/ 3853453 w 3909892"/>
              <a:gd name="connsiteY4" fmla="*/ 4400174 h 4400174"/>
              <a:gd name="connsiteX5" fmla="*/ 21934 w 3909892"/>
              <a:gd name="connsiteY5" fmla="*/ 4374294 h 4400174"/>
              <a:gd name="connsiteX6" fmla="*/ 0 w 3909892"/>
              <a:gd name="connsiteY6" fmla="*/ 651662 h 4400174"/>
              <a:gd name="connsiteX0" fmla="*/ 26834 w 3936726"/>
              <a:gd name="connsiteY0" fmla="*/ 651662 h 4400174"/>
              <a:gd name="connsiteX1" fmla="*/ 678496 w 3936726"/>
              <a:gd name="connsiteY1" fmla="*/ 0 h 4400174"/>
              <a:gd name="connsiteX2" fmla="*/ 3285064 w 3936726"/>
              <a:gd name="connsiteY2" fmla="*/ 0 h 4400174"/>
              <a:gd name="connsiteX3" fmla="*/ 3936726 w 3936726"/>
              <a:gd name="connsiteY3" fmla="*/ 651662 h 4400174"/>
              <a:gd name="connsiteX4" fmla="*/ 3880287 w 3936726"/>
              <a:gd name="connsiteY4" fmla="*/ 4400174 h 4400174"/>
              <a:gd name="connsiteX5" fmla="*/ 0 w 3936726"/>
              <a:gd name="connsiteY5" fmla="*/ 4368198 h 4400174"/>
              <a:gd name="connsiteX6" fmla="*/ 26834 w 3936726"/>
              <a:gd name="connsiteY6" fmla="*/ 651662 h 4400174"/>
              <a:gd name="connsiteX0" fmla="*/ 26834 w 3936726"/>
              <a:gd name="connsiteY0" fmla="*/ 651662 h 4400174"/>
              <a:gd name="connsiteX1" fmla="*/ 678496 w 3936726"/>
              <a:gd name="connsiteY1" fmla="*/ 0 h 4400174"/>
              <a:gd name="connsiteX2" fmla="*/ 3285064 w 3936726"/>
              <a:gd name="connsiteY2" fmla="*/ 0 h 4400174"/>
              <a:gd name="connsiteX3" fmla="*/ 3936726 w 3936726"/>
              <a:gd name="connsiteY3" fmla="*/ 651662 h 4400174"/>
              <a:gd name="connsiteX4" fmla="*/ 3880287 w 3936726"/>
              <a:gd name="connsiteY4" fmla="*/ 4400174 h 4400174"/>
              <a:gd name="connsiteX5" fmla="*/ 0 w 3936726"/>
              <a:gd name="connsiteY5" fmla="*/ 4368198 h 4400174"/>
              <a:gd name="connsiteX6" fmla="*/ 26834 w 3936726"/>
              <a:gd name="connsiteY6" fmla="*/ 651662 h 4400174"/>
              <a:gd name="connsiteX0" fmla="*/ 26834 w 3936726"/>
              <a:gd name="connsiteY0" fmla="*/ 651662 h 4375790"/>
              <a:gd name="connsiteX1" fmla="*/ 678496 w 3936726"/>
              <a:gd name="connsiteY1" fmla="*/ 0 h 4375790"/>
              <a:gd name="connsiteX2" fmla="*/ 3285064 w 3936726"/>
              <a:gd name="connsiteY2" fmla="*/ 0 h 4375790"/>
              <a:gd name="connsiteX3" fmla="*/ 3936726 w 3936726"/>
              <a:gd name="connsiteY3" fmla="*/ 651662 h 4375790"/>
              <a:gd name="connsiteX4" fmla="*/ 3874191 w 3936726"/>
              <a:gd name="connsiteY4" fmla="*/ 4375790 h 4375790"/>
              <a:gd name="connsiteX5" fmla="*/ 0 w 3936726"/>
              <a:gd name="connsiteY5" fmla="*/ 4368198 h 4375790"/>
              <a:gd name="connsiteX6" fmla="*/ 26834 w 3936726"/>
              <a:gd name="connsiteY6" fmla="*/ 651662 h 4375790"/>
              <a:gd name="connsiteX0" fmla="*/ 26834 w 3936726"/>
              <a:gd name="connsiteY0" fmla="*/ 651662 h 4369694"/>
              <a:gd name="connsiteX1" fmla="*/ 678496 w 3936726"/>
              <a:gd name="connsiteY1" fmla="*/ 0 h 4369694"/>
              <a:gd name="connsiteX2" fmla="*/ 3285064 w 3936726"/>
              <a:gd name="connsiteY2" fmla="*/ 0 h 4369694"/>
              <a:gd name="connsiteX3" fmla="*/ 3936726 w 3936726"/>
              <a:gd name="connsiteY3" fmla="*/ 651662 h 4369694"/>
              <a:gd name="connsiteX4" fmla="*/ 3910767 w 3936726"/>
              <a:gd name="connsiteY4" fmla="*/ 4369694 h 4369694"/>
              <a:gd name="connsiteX5" fmla="*/ 0 w 3936726"/>
              <a:gd name="connsiteY5" fmla="*/ 4368198 h 4369694"/>
              <a:gd name="connsiteX6" fmla="*/ 26834 w 3936726"/>
              <a:gd name="connsiteY6" fmla="*/ 651662 h 4369694"/>
              <a:gd name="connsiteX0" fmla="*/ 26834 w 3936726"/>
              <a:gd name="connsiteY0" fmla="*/ 651662 h 4375790"/>
              <a:gd name="connsiteX1" fmla="*/ 678496 w 3936726"/>
              <a:gd name="connsiteY1" fmla="*/ 0 h 4375790"/>
              <a:gd name="connsiteX2" fmla="*/ 3285064 w 3936726"/>
              <a:gd name="connsiteY2" fmla="*/ 0 h 4375790"/>
              <a:gd name="connsiteX3" fmla="*/ 3936726 w 3936726"/>
              <a:gd name="connsiteY3" fmla="*/ 651662 h 4375790"/>
              <a:gd name="connsiteX4" fmla="*/ 3922959 w 3936726"/>
              <a:gd name="connsiteY4" fmla="*/ 4375790 h 4375790"/>
              <a:gd name="connsiteX5" fmla="*/ 0 w 3936726"/>
              <a:gd name="connsiteY5" fmla="*/ 4368198 h 4375790"/>
              <a:gd name="connsiteX6" fmla="*/ 26834 w 3936726"/>
              <a:gd name="connsiteY6" fmla="*/ 651662 h 4375790"/>
              <a:gd name="connsiteX0" fmla="*/ 0 w 3909892"/>
              <a:gd name="connsiteY0" fmla="*/ 651662 h 4393598"/>
              <a:gd name="connsiteX1" fmla="*/ 651662 w 3909892"/>
              <a:gd name="connsiteY1" fmla="*/ 0 h 4393598"/>
              <a:gd name="connsiteX2" fmla="*/ 3258230 w 3909892"/>
              <a:gd name="connsiteY2" fmla="*/ 0 h 4393598"/>
              <a:gd name="connsiteX3" fmla="*/ 3909892 w 3909892"/>
              <a:gd name="connsiteY3" fmla="*/ 651662 h 4393598"/>
              <a:gd name="connsiteX4" fmla="*/ 3896125 w 3909892"/>
              <a:gd name="connsiteY4" fmla="*/ 4375790 h 4393598"/>
              <a:gd name="connsiteX5" fmla="*/ 3646 w 3909892"/>
              <a:gd name="connsiteY5" fmla="*/ 4393598 h 4393598"/>
              <a:gd name="connsiteX6" fmla="*/ 0 w 3909892"/>
              <a:gd name="connsiteY6" fmla="*/ 651662 h 4393598"/>
              <a:gd name="connsiteX0" fmla="*/ 0 w 3909892"/>
              <a:gd name="connsiteY0" fmla="*/ 651662 h 4388518"/>
              <a:gd name="connsiteX1" fmla="*/ 651662 w 3909892"/>
              <a:gd name="connsiteY1" fmla="*/ 0 h 4388518"/>
              <a:gd name="connsiteX2" fmla="*/ 3258230 w 3909892"/>
              <a:gd name="connsiteY2" fmla="*/ 0 h 4388518"/>
              <a:gd name="connsiteX3" fmla="*/ 3909892 w 3909892"/>
              <a:gd name="connsiteY3" fmla="*/ 651662 h 4388518"/>
              <a:gd name="connsiteX4" fmla="*/ 3896125 w 3909892"/>
              <a:gd name="connsiteY4" fmla="*/ 4375790 h 4388518"/>
              <a:gd name="connsiteX5" fmla="*/ 3646 w 3909892"/>
              <a:gd name="connsiteY5" fmla="*/ 4388518 h 4388518"/>
              <a:gd name="connsiteX6" fmla="*/ 0 w 3909892"/>
              <a:gd name="connsiteY6" fmla="*/ 651662 h 4388518"/>
              <a:gd name="connsiteX0" fmla="*/ 0 w 3909892"/>
              <a:gd name="connsiteY0" fmla="*/ 651662 h 4378358"/>
              <a:gd name="connsiteX1" fmla="*/ 651662 w 3909892"/>
              <a:gd name="connsiteY1" fmla="*/ 0 h 4378358"/>
              <a:gd name="connsiteX2" fmla="*/ 3258230 w 3909892"/>
              <a:gd name="connsiteY2" fmla="*/ 0 h 4378358"/>
              <a:gd name="connsiteX3" fmla="*/ 3909892 w 3909892"/>
              <a:gd name="connsiteY3" fmla="*/ 651662 h 4378358"/>
              <a:gd name="connsiteX4" fmla="*/ 3896125 w 3909892"/>
              <a:gd name="connsiteY4" fmla="*/ 4375790 h 4378358"/>
              <a:gd name="connsiteX5" fmla="*/ 3646 w 3909892"/>
              <a:gd name="connsiteY5" fmla="*/ 4378358 h 4378358"/>
              <a:gd name="connsiteX6" fmla="*/ 0 w 3909892"/>
              <a:gd name="connsiteY6" fmla="*/ 651662 h 4378358"/>
              <a:gd name="connsiteX0" fmla="*/ 0 w 3909892"/>
              <a:gd name="connsiteY0" fmla="*/ 651662 h 4396646"/>
              <a:gd name="connsiteX1" fmla="*/ 651662 w 3909892"/>
              <a:gd name="connsiteY1" fmla="*/ 0 h 4396646"/>
              <a:gd name="connsiteX2" fmla="*/ 3258230 w 3909892"/>
              <a:gd name="connsiteY2" fmla="*/ 0 h 4396646"/>
              <a:gd name="connsiteX3" fmla="*/ 3909892 w 3909892"/>
              <a:gd name="connsiteY3" fmla="*/ 651662 h 4396646"/>
              <a:gd name="connsiteX4" fmla="*/ 3896125 w 3909892"/>
              <a:gd name="connsiteY4" fmla="*/ 4375790 h 4396646"/>
              <a:gd name="connsiteX5" fmla="*/ 3646 w 3909892"/>
              <a:gd name="connsiteY5" fmla="*/ 4396646 h 4396646"/>
              <a:gd name="connsiteX6" fmla="*/ 0 w 3909892"/>
              <a:gd name="connsiteY6" fmla="*/ 651662 h 4396646"/>
              <a:gd name="connsiteX0" fmla="*/ 0 w 3909892"/>
              <a:gd name="connsiteY0" fmla="*/ 651662 h 4396646"/>
              <a:gd name="connsiteX1" fmla="*/ 651662 w 3909892"/>
              <a:gd name="connsiteY1" fmla="*/ 0 h 4396646"/>
              <a:gd name="connsiteX2" fmla="*/ 3258230 w 3909892"/>
              <a:gd name="connsiteY2" fmla="*/ 0 h 4396646"/>
              <a:gd name="connsiteX3" fmla="*/ 3909892 w 3909892"/>
              <a:gd name="connsiteY3" fmla="*/ 651662 h 4396646"/>
              <a:gd name="connsiteX4" fmla="*/ 3896125 w 3909892"/>
              <a:gd name="connsiteY4" fmla="*/ 4375790 h 4396646"/>
              <a:gd name="connsiteX5" fmla="*/ 3646 w 3909892"/>
              <a:gd name="connsiteY5" fmla="*/ 4396646 h 4396646"/>
              <a:gd name="connsiteX6" fmla="*/ 0 w 3909892"/>
              <a:gd name="connsiteY6" fmla="*/ 651662 h 4396646"/>
              <a:gd name="connsiteX0" fmla="*/ 0 w 3909892"/>
              <a:gd name="connsiteY0" fmla="*/ 651662 h 4396646"/>
              <a:gd name="connsiteX1" fmla="*/ 651662 w 3909892"/>
              <a:gd name="connsiteY1" fmla="*/ 0 h 4396646"/>
              <a:gd name="connsiteX2" fmla="*/ 3258230 w 3909892"/>
              <a:gd name="connsiteY2" fmla="*/ 0 h 4396646"/>
              <a:gd name="connsiteX3" fmla="*/ 3909892 w 3909892"/>
              <a:gd name="connsiteY3" fmla="*/ 651662 h 4396646"/>
              <a:gd name="connsiteX4" fmla="*/ 3896125 w 3909892"/>
              <a:gd name="connsiteY4" fmla="*/ 4375790 h 4396646"/>
              <a:gd name="connsiteX5" fmla="*/ 3646 w 3909892"/>
              <a:gd name="connsiteY5" fmla="*/ 4396646 h 4396646"/>
              <a:gd name="connsiteX6" fmla="*/ 0 w 3909892"/>
              <a:gd name="connsiteY6" fmla="*/ 651662 h 4396646"/>
              <a:gd name="connsiteX0" fmla="*/ 0 w 3909892"/>
              <a:gd name="connsiteY0" fmla="*/ 651662 h 4396646"/>
              <a:gd name="connsiteX1" fmla="*/ 651662 w 3909892"/>
              <a:gd name="connsiteY1" fmla="*/ 0 h 4396646"/>
              <a:gd name="connsiteX2" fmla="*/ 3258230 w 3909892"/>
              <a:gd name="connsiteY2" fmla="*/ 0 h 4396646"/>
              <a:gd name="connsiteX3" fmla="*/ 3909892 w 3909892"/>
              <a:gd name="connsiteY3" fmla="*/ 651662 h 4396646"/>
              <a:gd name="connsiteX4" fmla="*/ 3883933 w 3909892"/>
              <a:gd name="connsiteY4" fmla="*/ 4387982 h 4396646"/>
              <a:gd name="connsiteX5" fmla="*/ 3646 w 3909892"/>
              <a:gd name="connsiteY5" fmla="*/ 4396646 h 4396646"/>
              <a:gd name="connsiteX6" fmla="*/ 0 w 3909892"/>
              <a:gd name="connsiteY6" fmla="*/ 651662 h 4396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09892" h="4396646">
                <a:moveTo>
                  <a:pt x="0" y="651662"/>
                </a:moveTo>
                <a:cubicBezTo>
                  <a:pt x="0" y="291759"/>
                  <a:pt x="291759" y="0"/>
                  <a:pt x="651662" y="0"/>
                </a:cubicBezTo>
                <a:lnTo>
                  <a:pt x="3258230" y="0"/>
                </a:lnTo>
                <a:cubicBezTo>
                  <a:pt x="3618133" y="0"/>
                  <a:pt x="3909892" y="291759"/>
                  <a:pt x="3909892" y="651662"/>
                </a:cubicBezTo>
                <a:lnTo>
                  <a:pt x="3883933" y="4387982"/>
                </a:lnTo>
                <a:lnTo>
                  <a:pt x="3646" y="4396646"/>
                </a:lnTo>
                <a:cubicBezTo>
                  <a:pt x="28169" y="1282885"/>
                  <a:pt x="0" y="1386462"/>
                  <a:pt x="0" y="651662"/>
                </a:cubicBezTo>
                <a:close/>
              </a:path>
            </a:pathLst>
          </a:cu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864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1DB868-BEE2-49F7-9AC5-A3B143880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79BDFD5C-2D51-43F8-7EBE-3DA93E8F8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4587" y="2941609"/>
            <a:ext cx="4466502" cy="2072542"/>
          </a:xfrm>
        </p:spPr>
        <p:txBody>
          <a:bodyPr/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fa-IR" sz="1800" b="1" dirty="0"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latin typeface="AzarMehr-DS1-FD Black" pitchFamily="2" charset="-78"/>
                <a:cs typeface="AzarMehr-DS1-FD Black" pitchFamily="2" charset="-78"/>
              </a:rPr>
              <a:t>ایجاد یک پلتفرم هوشمند و چندمنظوره برای ارائه کتاب‌های صوتی، با استفاده از هوش مصنوعی برای شخصی‌سازی تجربه کاربری و تعامل آسان‌تر با محتوا و ایجاد فضای تعاملی برای</a:t>
            </a:r>
            <a:r>
              <a:rPr lang="fa-IR" sz="18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AzarMehr-DS1-FD Black" pitchFamily="2" charset="-78"/>
                <a:cs typeface="AzarMehr-DS1-FD Black" pitchFamily="2" charset="-78"/>
              </a:rPr>
              <a:t> بهبود تجربه کاربری!</a:t>
            </a:r>
            <a:endParaRPr lang="fa-IR" sz="1800" b="1" dirty="0">
              <a:solidFill>
                <a:schemeClr val="accent3">
                  <a:lumMod val="40000"/>
                  <a:lumOff val="60000"/>
                </a:schemeClr>
              </a:solidFill>
              <a:effectLst/>
              <a:latin typeface="AzarMehr-DS1-FD Black" pitchFamily="2" charset="-78"/>
              <a:cs typeface="AzarMehr-DS1-FD Black" pitchFamily="2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F364CA-EFA8-14AF-5018-E2C4CD37A788}"/>
              </a:ext>
            </a:extLst>
          </p:cNvPr>
          <p:cNvSpPr txBox="1"/>
          <p:nvPr/>
        </p:nvSpPr>
        <p:spPr>
          <a:xfrm>
            <a:off x="7045519" y="1716657"/>
            <a:ext cx="42355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4000" b="1" dirty="0">
                <a:solidFill>
                  <a:schemeClr val="bg1"/>
                </a:solidFill>
                <a:latin typeface="AzarMehr-DS1-FD Black" pitchFamily="2" charset="-78"/>
                <a:cs typeface="AzarMehr-DS1-FD Black" pitchFamily="2" charset="-78"/>
              </a:rPr>
              <a:t>راه حل خلاقانه ما</a:t>
            </a:r>
            <a:endParaRPr lang="en-US" sz="4000" b="1" dirty="0">
              <a:solidFill>
                <a:schemeClr val="bg1"/>
              </a:solidFill>
              <a:latin typeface="AzarMehr-DS1-FD Black" pitchFamily="2" charset="-78"/>
              <a:cs typeface="AzarMehr-DS1-FD Black" pitchFamily="2" charset="-7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889603-3D3A-7012-5003-1E91722193DC}"/>
              </a:ext>
            </a:extLst>
          </p:cNvPr>
          <p:cNvSpPr/>
          <p:nvPr/>
        </p:nvSpPr>
        <p:spPr>
          <a:xfrm>
            <a:off x="399210" y="370781"/>
            <a:ext cx="5303640" cy="6184900"/>
          </a:xfrm>
          <a:prstGeom prst="rect">
            <a:avLst/>
          </a:prstGeom>
          <a:solidFill>
            <a:srgbClr val="010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255F90-085D-55DB-C722-7B469B54E6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51" y="1310879"/>
            <a:ext cx="6096002" cy="2667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3156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60903-003B-273E-3584-5312F76C3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439947"/>
            <a:ext cx="8016755" cy="1329454"/>
          </a:xfrm>
        </p:spPr>
        <p:txBody>
          <a:bodyPr/>
          <a:lstStyle/>
          <a:p>
            <a:pPr algn="r" rtl="1"/>
            <a:r>
              <a:rPr lang="fa-IR" sz="3600" b="1" dirty="0">
                <a:latin typeface="Sahel" panose="020B0603030804020204" pitchFamily="34" charset="-78"/>
                <a:cs typeface="Sahel" panose="020B0603030804020204" pitchFamily="34" charset="-78"/>
              </a:rPr>
              <a:t>محصول</a:t>
            </a:r>
            <a:br>
              <a:rPr lang="fa-IR" sz="3600" b="1" dirty="0">
                <a:latin typeface="Sahel" panose="020B0603030804020204" pitchFamily="34" charset="-78"/>
                <a:cs typeface="Sahel" panose="020B0603030804020204" pitchFamily="34" charset="-78"/>
              </a:rPr>
            </a:br>
            <a:br>
              <a:rPr lang="fa-IR" sz="2800" b="1" dirty="0">
                <a:latin typeface="Sahel" panose="020B0603030804020204" pitchFamily="34" charset="-78"/>
                <a:cs typeface="Sahel" panose="020B0603030804020204" pitchFamily="34" charset="-78"/>
              </a:rPr>
            </a:br>
            <a:r>
              <a:rPr lang="fa-IR" sz="2400" b="1" dirty="0">
                <a:latin typeface="Sahel" panose="020B0603030804020204" pitchFamily="34" charset="-78"/>
                <a:cs typeface="Sahel" panose="020B0603030804020204" pitchFamily="34" charset="-78"/>
              </a:rPr>
              <a:t>اپلیکیشن کتابا</a:t>
            </a:r>
            <a:endParaRPr lang="fa-IR" sz="2800" b="1" dirty="0">
              <a:latin typeface="Sahel" panose="020B0603030804020204" pitchFamily="34" charset="-78"/>
              <a:cs typeface="Sahel" panose="020B0603030804020204" pitchFamily="34" charset="-78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160DFF-2E7E-7A22-819A-C011020DFF01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305669" y="2441398"/>
            <a:ext cx="8288233" cy="4218943"/>
          </a:xfrm>
        </p:spPr>
        <p:txBody>
          <a:bodyPr/>
          <a:lstStyle/>
          <a:p>
            <a:pPr marL="742950" lvl="1" indent="-285750" algn="justLow" rtl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a-IR" sz="1800" dirty="0">
                <a:effectLst/>
                <a:latin typeface="KalamehFaNum" pitchFamily="2" charset="-78"/>
                <a:cs typeface="KalamehFaNum" pitchFamily="2" charset="-78"/>
              </a:rPr>
              <a:t>تشخیص علایق کاربران و معرفی کتاب‌های مناسب به کاربران بر اساس علاقه‌مندی‌های آنها</a:t>
            </a:r>
            <a:endParaRPr lang="en-US" sz="400" dirty="0">
              <a:effectLst/>
              <a:latin typeface="KalamehFaNum" pitchFamily="2" charset="-78"/>
              <a:cs typeface="KalamehFaNum" pitchFamily="2" charset="-78"/>
            </a:endParaRPr>
          </a:p>
          <a:p>
            <a:pPr marL="742950" lvl="1" indent="-285750" algn="justLow" rtl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fa-IR" sz="400" dirty="0">
              <a:effectLst/>
              <a:latin typeface="KalamehFaNum" pitchFamily="2" charset="-78"/>
              <a:cs typeface="KalamehFaNum" pitchFamily="2" charset="-78"/>
            </a:endParaRPr>
          </a:p>
          <a:p>
            <a:pPr marL="742950" lvl="1" indent="-285750" algn="justLow" rtl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a-IR" sz="1800" dirty="0">
                <a:effectLst/>
                <a:latin typeface="KalamehFaNum" pitchFamily="2" charset="-78"/>
                <a:cs typeface="KalamehFaNum" pitchFamily="2" charset="-78"/>
              </a:rPr>
              <a:t>فراهم کردن امکان تعامل کاربران با یکدیگر درباره کتاب ها از طریق پرسش و پاسخ و ثبت نظرات</a:t>
            </a:r>
            <a:endParaRPr lang="en-US" sz="400" dirty="0">
              <a:effectLst/>
              <a:latin typeface="KalamehFaNum" pitchFamily="2" charset="-78"/>
              <a:cs typeface="KalamehFaNum" pitchFamily="2" charset="-78"/>
            </a:endParaRPr>
          </a:p>
          <a:p>
            <a:pPr marL="742950" lvl="1" indent="-285750" algn="justLow" rtl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fa-IR" sz="400" dirty="0">
              <a:effectLst/>
              <a:latin typeface="KalamehFaNum" pitchFamily="2" charset="-78"/>
              <a:cs typeface="KalamehFaNum" pitchFamily="2" charset="-78"/>
            </a:endParaRPr>
          </a:p>
          <a:p>
            <a:pPr marL="742950" lvl="1" indent="-285750" algn="justLow" rtl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a-IR" sz="1800" dirty="0">
                <a:latin typeface="KalamehFaNum" pitchFamily="2" charset="-78"/>
                <a:cs typeface="KalamehFaNum" pitchFamily="2" charset="-78"/>
              </a:rPr>
              <a:t>قابلیت آپلود صوت و مشارکت در تولید محتوا برای سایت خصوصا برای گویش های مختلف</a:t>
            </a:r>
            <a:endParaRPr lang="en-US" sz="400" dirty="0">
              <a:latin typeface="KalamehFaNum" pitchFamily="2" charset="-78"/>
              <a:cs typeface="KalamehFaNum" pitchFamily="2" charset="-78"/>
            </a:endParaRPr>
          </a:p>
          <a:p>
            <a:pPr marL="742950" lvl="1" indent="-285750" algn="justLow" rtl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fa-IR" sz="400" dirty="0">
              <a:effectLst/>
              <a:latin typeface="KalamehFaNum" pitchFamily="2" charset="-78"/>
              <a:cs typeface="KalamehFaNum" pitchFamily="2" charset="-78"/>
            </a:endParaRPr>
          </a:p>
          <a:p>
            <a:pPr marL="742950" lvl="1" indent="-285750" algn="justLow" rtl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a-IR" sz="1800" dirty="0">
                <a:latin typeface="KalamehFaNum" pitchFamily="2" charset="-78"/>
                <a:cs typeface="KalamehFaNum" pitchFamily="2" charset="-78"/>
              </a:rPr>
              <a:t>قابلیت</a:t>
            </a:r>
            <a:r>
              <a:rPr lang="fa-IR" sz="1800" dirty="0">
                <a:effectLst/>
                <a:latin typeface="KalamehFaNum" pitchFamily="2" charset="-78"/>
                <a:cs typeface="KalamehFaNum" pitchFamily="2" charset="-78"/>
              </a:rPr>
              <a:t> آپلود کتاب‌های</a:t>
            </a:r>
            <a:r>
              <a:rPr lang="en-US" sz="1800" dirty="0">
                <a:effectLst/>
                <a:latin typeface="KalamehFaNum" pitchFamily="2" charset="-78"/>
                <a:cs typeface="KalamehFaNum" pitchFamily="2" charset="-78"/>
              </a:rPr>
              <a:t> PDF </a:t>
            </a:r>
            <a:r>
              <a:rPr lang="fa-IR" sz="1800" dirty="0">
                <a:effectLst/>
                <a:latin typeface="KalamehFaNum" pitchFamily="2" charset="-78"/>
                <a:cs typeface="KalamehFaNum" pitchFamily="2" charset="-78"/>
              </a:rPr>
              <a:t>توسط کاربران و ثبت درخواست اضافه کردن کتاب به مجموعه و امکان گوش کردن به آن با صدای مورد نظر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347AE7-D6A2-42FB-3D58-6297742FC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6372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541D6-32C3-CC64-54AE-A1466AB0A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sz="3200" b="1" dirty="0">
                <a:effectLst/>
                <a:latin typeface="KalamehFaNum" pitchFamily="2" charset="-78"/>
                <a:cs typeface="KalamehFaNum" pitchFamily="2" charset="-78"/>
              </a:rPr>
              <a:t>امکانات اپلیکیشن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6B0E8-591F-2AA0-B5B9-534B743193DA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079634" y="2444271"/>
            <a:ext cx="8626411" cy="3676649"/>
          </a:xfrm>
        </p:spPr>
        <p:txBody>
          <a:bodyPr/>
          <a:lstStyle/>
          <a:p>
            <a:pPr marL="742950" lvl="1" indent="-285750" algn="r" rtl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a-IR" dirty="0">
                <a:effectLst/>
                <a:latin typeface="KalamehFaNum" pitchFamily="2" charset="-78"/>
                <a:cs typeface="KalamehFaNum" pitchFamily="2" charset="-78"/>
              </a:rPr>
              <a:t>خوانش کتاب با مدل های صوتی هوش مصنوعی با صدای شخصی سازی شده یا صدای افراد مشهور</a:t>
            </a:r>
            <a:endParaRPr lang="en-US" sz="1100" dirty="0">
              <a:effectLst/>
              <a:latin typeface="KalamehFaNum" pitchFamily="2" charset="-78"/>
              <a:cs typeface="KalamehFaNum" pitchFamily="2" charset="-78"/>
            </a:endParaRPr>
          </a:p>
          <a:p>
            <a:pPr marL="742950" lvl="1" indent="-285750" algn="r" rtl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fa-IR" sz="1100" dirty="0">
              <a:effectLst/>
              <a:latin typeface="KalamehFaNum" pitchFamily="2" charset="-78"/>
              <a:cs typeface="KalamehFaNum" pitchFamily="2" charset="-78"/>
            </a:endParaRPr>
          </a:p>
          <a:p>
            <a:pPr marL="742950" lvl="1" indent="-285750" algn="r" rtl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a-IR" dirty="0">
                <a:effectLst/>
                <a:latin typeface="KalamehFaNum" pitchFamily="2" charset="-78"/>
                <a:cs typeface="KalamehFaNum" pitchFamily="2" charset="-78"/>
              </a:rPr>
              <a:t>تحلیل محتوای کتاب‌ها، خلاصه سازی آن و پاسخ‌دهی به سوالات کاربران با استفاده از چت بات کتابیار</a:t>
            </a:r>
            <a:endParaRPr lang="en-US" sz="1100" dirty="0">
              <a:effectLst/>
              <a:latin typeface="KalamehFaNum" pitchFamily="2" charset="-78"/>
              <a:cs typeface="KalamehFaNum" pitchFamily="2" charset="-78"/>
            </a:endParaRPr>
          </a:p>
          <a:p>
            <a:pPr marL="742950" lvl="1" indent="-285750" algn="r" rtl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fa-IR" sz="1100" dirty="0">
              <a:effectLst/>
              <a:latin typeface="KalamehFaNum" pitchFamily="2" charset="-78"/>
              <a:cs typeface="KalamehFaNum" pitchFamily="2" charset="-78"/>
            </a:endParaRPr>
          </a:p>
          <a:p>
            <a:pPr marL="742950" lvl="1" indent="-285750" algn="r" rtl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fa-IR" altLang="en-US" dirty="0">
                <a:latin typeface="KalamehFaNum" pitchFamily="2" charset="-78"/>
                <a:cs typeface="KalamehFaNum" pitchFamily="2" charset="-78"/>
              </a:rPr>
              <a:t>برگزاری مسابقات و چالش های مختلف با ایجاد بستر تولید محتوای توسط کاربران</a:t>
            </a:r>
            <a:endParaRPr lang="en-US" altLang="en-US" sz="1100" dirty="0">
              <a:latin typeface="KalamehFaNum" pitchFamily="2" charset="-78"/>
              <a:cs typeface="KalamehFaNum" pitchFamily="2" charset="-78"/>
            </a:endParaRPr>
          </a:p>
          <a:p>
            <a:pPr marL="742950" lvl="1" indent="-285750" algn="r" rtl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endParaRPr lang="fa-IR" altLang="en-US" sz="1100" dirty="0">
              <a:latin typeface="KalamehFaNum" pitchFamily="2" charset="-78"/>
              <a:cs typeface="KalamehFaNum" pitchFamily="2" charset="-78"/>
            </a:endParaRPr>
          </a:p>
          <a:p>
            <a:pPr marL="742950" lvl="1" indent="-285750" algn="r" rtl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fa-IR" altLang="en-US" dirty="0">
                <a:latin typeface="KalamehFaNum" pitchFamily="2" charset="-78"/>
                <a:cs typeface="KalamehFaNum" pitchFamily="2" charset="-78"/>
              </a:rPr>
              <a:t>قابلیت تنظیم سرعت پخش یا نشانه‌گذاری</a:t>
            </a:r>
            <a:r>
              <a:rPr lang="en-US" altLang="en-US" dirty="0">
                <a:latin typeface="KalamehFaNum" pitchFamily="2" charset="-78"/>
                <a:cs typeface="KalamehFaNum" pitchFamily="2" charset="-78"/>
              </a:rPr>
              <a:t>Bookmark) </a:t>
            </a:r>
            <a:r>
              <a:rPr lang="fa-IR" altLang="en-US" dirty="0">
                <a:latin typeface="KalamehFaNum" pitchFamily="2" charset="-78"/>
                <a:cs typeface="KalamehFaNum" pitchFamily="2" charset="-78"/>
              </a:rPr>
              <a:t>)</a:t>
            </a:r>
            <a:endParaRPr lang="fa-IR" altLang="en-US" sz="1100" dirty="0">
              <a:latin typeface="KalamehFaNum" pitchFamily="2" charset="-78"/>
              <a:cs typeface="KalamehFaNum" pitchFamily="2" charset="-78"/>
            </a:endParaRPr>
          </a:p>
          <a:p>
            <a:pPr marL="742950" lvl="1" indent="-285750" algn="r" rtl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endParaRPr lang="fa-IR" altLang="en-US" sz="1100" dirty="0">
              <a:latin typeface="KalamehFaNum" pitchFamily="2" charset="-78"/>
              <a:cs typeface="KalamehFaNum" pitchFamily="2" charset="-78"/>
            </a:endParaRPr>
          </a:p>
          <a:p>
            <a:pPr marL="742950" lvl="1" indent="-285750" algn="r" rtl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fa-IR" altLang="en-US" dirty="0">
                <a:latin typeface="KalamehFaNum" pitchFamily="2" charset="-78"/>
                <a:cs typeface="KalamehFaNum" pitchFamily="2" charset="-78"/>
              </a:rPr>
              <a:t>قابلیت استفاده افراد دارای معلولیت های مختلف از این پلتفرم</a:t>
            </a:r>
            <a:endParaRPr lang="en-US" altLang="en-US" sz="1100" dirty="0">
              <a:latin typeface="KalamehFaNum" pitchFamily="2" charset="-78"/>
              <a:cs typeface="KalamehFaNum" pitchFamily="2" charset="-78"/>
            </a:endParaRPr>
          </a:p>
          <a:p>
            <a:pPr marL="742950" lvl="1" indent="-285750" algn="r" rtl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endParaRPr lang="fa-IR" altLang="en-US" sz="1100" dirty="0">
              <a:latin typeface="KalamehFaNum" pitchFamily="2" charset="-78"/>
              <a:cs typeface="KalamehFaNum" pitchFamily="2" charset="-78"/>
            </a:endParaRPr>
          </a:p>
          <a:p>
            <a:pPr marL="742950" lvl="1" indent="-285750" algn="r" rtl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fa-IR" altLang="en-US" dirty="0">
                <a:latin typeface="KalamehFaNum" pitchFamily="2" charset="-78"/>
                <a:cs typeface="KalamehFaNum" pitchFamily="2" charset="-78"/>
              </a:rPr>
              <a:t>دانلود کتاب های خریداری شده و قابلیت پخش آن در نرم افزار</a:t>
            </a:r>
            <a:endParaRPr lang="en-US" altLang="en-US" sz="1100" dirty="0">
              <a:latin typeface="KalamehFaNum" pitchFamily="2" charset="-78"/>
              <a:cs typeface="KalamehFaNum" pitchFamily="2" charset="-78"/>
            </a:endParaRPr>
          </a:p>
          <a:p>
            <a:pPr marL="742950" lvl="1" indent="-285750" algn="r" rtl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endParaRPr lang="en-US" altLang="en-US" sz="1100" dirty="0">
              <a:latin typeface="KalamehFaNum" pitchFamily="2" charset="-78"/>
              <a:cs typeface="KalamehFaNum" pitchFamily="2" charset="-78"/>
            </a:endParaRPr>
          </a:p>
          <a:p>
            <a:pPr marL="742950" lvl="1" indent="-285750" algn="r" rtl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fa-IR" altLang="en-US" dirty="0">
                <a:latin typeface="KalamehFaNum" pitchFamily="2" charset="-78"/>
                <a:cs typeface="KalamehFaNum" pitchFamily="2" charset="-78"/>
              </a:rPr>
              <a:t>محتوای اختصاصی برای رشد فردی، کارآفرینی  و توسعه کسب و کار</a:t>
            </a:r>
            <a:endParaRPr lang="en-US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A280F-44F6-9F65-874C-D251A50D6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87415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FA6870A-24D9-F9F1-0ACF-CEF87A36B5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387" t="35598" r="9718" b="57484"/>
          <a:stretch/>
        </p:blipFill>
        <p:spPr>
          <a:xfrm>
            <a:off x="2337758" y="1422866"/>
            <a:ext cx="8928339" cy="62159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CCA29A4-AAFD-04EE-0732-0671E83D5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2149" y="-613817"/>
            <a:ext cx="8843050" cy="1616904"/>
          </a:xfrm>
        </p:spPr>
        <p:txBody>
          <a:bodyPr/>
          <a:lstStyle/>
          <a:p>
            <a:pPr algn="r" rtl="1"/>
            <a:r>
              <a:rPr lang="fa-IR" b="1" dirty="0">
                <a:latin typeface="Sahel" panose="020B0603030804020204" pitchFamily="34" charset="-78"/>
                <a:cs typeface="Sahel" panose="020B0603030804020204" pitchFamily="34" charset="-78"/>
              </a:rPr>
              <a:t>ارزش های پیشنهادی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E23533-91C6-420C-B7D7-4977ACF73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199" y="6226198"/>
            <a:ext cx="468972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AF750424-AAE9-9C3F-2226-BE91DBD186DD}"/>
              </a:ext>
            </a:extLst>
          </p:cNvPr>
          <p:cNvSpPr>
            <a:spLocks noGrp="1" noChangeArrowheads="1"/>
          </p:cNvSpPr>
          <p:nvPr>
            <p:ph sz="quarter" idx="36"/>
          </p:nvPr>
        </p:nvSpPr>
        <p:spPr bwMode="auto">
          <a:xfrm>
            <a:off x="2237251" y="1143678"/>
            <a:ext cx="8843050" cy="5447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r" defTabSz="914400" rtl="1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ar-SA" altLang="en-US" sz="1600" b="0" i="0" u="none" strike="noStrike" cap="none" normalizeH="0" baseline="0" dirty="0">
                <a:ln>
                  <a:noFill/>
                </a:ln>
                <a:effectLst/>
                <a:latin typeface="KalamehFaNum" pitchFamily="2" charset="-78"/>
                <a:cs typeface="KalamehFaNum" pitchFamily="2" charset="-78"/>
              </a:rPr>
              <a:t>ایجاد جامعه‌ای</a:t>
            </a:r>
            <a:r>
              <a:rPr kumimoji="0" lang="fa-IR" altLang="en-US" sz="1600" b="0" i="0" u="none" strike="noStrike" cap="none" normalizeH="0" baseline="0" dirty="0">
                <a:ln>
                  <a:noFill/>
                </a:ln>
                <a:effectLst/>
                <a:latin typeface="KalamehFaNum" pitchFamily="2" charset="-78"/>
                <a:cs typeface="KalamehFaNum" pitchFamily="2" charset="-78"/>
              </a:rPr>
              <a:t> از علاقه مندان به توسعه فردی، مدیریت و کارافرینی </a:t>
            </a:r>
            <a:r>
              <a:rPr lang="fa-IR" altLang="en-US" sz="1600" dirty="0">
                <a:latin typeface="KalamehFaNum" pitchFamily="2" charset="-78"/>
                <a:cs typeface="KalamehFaNum" pitchFamily="2" charset="-78"/>
              </a:rPr>
              <a:t>از اقوام بدون هیچ محدودیتی</a:t>
            </a:r>
          </a:p>
          <a:p>
            <a:pPr marL="285750" marR="0" lvl="0" indent="-285750" algn="r" defTabSz="914400" rtl="1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fa-IR" altLang="en-US" sz="1600" b="0" i="0" u="none" strike="noStrike" cap="none" normalizeH="0" baseline="0" dirty="0">
                <a:ln>
                  <a:noFill/>
                </a:ln>
                <a:effectLst/>
                <a:latin typeface="KalamehFaNum" pitchFamily="2" charset="-78"/>
                <a:cs typeface="KalamehFaNum" pitchFamily="2" charset="-78"/>
              </a:rPr>
              <a:t>پیشنهاد محتوا با توجه به شخصیت افراد</a:t>
            </a:r>
          </a:p>
          <a:p>
            <a:pPr marL="285750" marR="0" lvl="0" indent="-285750" algn="r" defTabSz="914400" rtl="1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fa-IR" altLang="en-US" sz="1600" b="0" i="0" u="none" strike="noStrike" cap="none" normalizeH="0" baseline="0" dirty="0">
                <a:ln>
                  <a:noFill/>
                </a:ln>
                <a:effectLst/>
                <a:latin typeface="KalamehFaNum" pitchFamily="2" charset="-78"/>
                <a:cs typeface="KalamehFaNum" pitchFamily="2" charset="-78"/>
              </a:rPr>
              <a:t>فراهم کردن محیطی برای تعامل کاربران و ایجاد ارتباط بیشتر با محتوا</a:t>
            </a:r>
          </a:p>
          <a:p>
            <a:pPr marL="285750" marR="0" lvl="0" indent="-285750" algn="r" defTabSz="914400" rtl="1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fa-IR" altLang="en-US" sz="1600" dirty="0">
                <a:latin typeface="KalamehFaNum" pitchFamily="2" charset="-78"/>
                <a:cs typeface="KalamehFaNum" pitchFamily="2" charset="-78"/>
              </a:rPr>
              <a:t>دسترسی به محتوای تخصصی حوزه کارافرینی مدیریت و توسعه فردی </a:t>
            </a:r>
          </a:p>
          <a:p>
            <a:pPr marL="285750" marR="0" lvl="0" indent="-285750" algn="r" defTabSz="914400" rtl="1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fa-IR" altLang="en-US" sz="1600" dirty="0">
                <a:latin typeface="KalamehFaNum" pitchFamily="2" charset="-78"/>
                <a:cs typeface="KalamehFaNum" pitchFamily="2" charset="-78"/>
              </a:rPr>
              <a:t>تولید محتوا به گویش ها و زبان های مختلف</a:t>
            </a:r>
          </a:p>
          <a:p>
            <a:pPr marL="285750" marR="0" lvl="0" indent="-285750" algn="r" defTabSz="914400" rtl="1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fa-IR" altLang="en-US" sz="1600" dirty="0">
                <a:latin typeface="KalamehFaNum" pitchFamily="2" charset="-78"/>
                <a:cs typeface="KalamehFaNum" pitchFamily="2" charset="-78"/>
              </a:rPr>
              <a:t>کمک به شکوفایی استعداد های گویندگی و کتاب خوانی</a:t>
            </a:r>
          </a:p>
          <a:p>
            <a:pPr marL="285750" indent="-285750" algn="r" rtl="1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fa-IR" altLang="en-US" sz="1600" dirty="0">
                <a:latin typeface="KalamehFaNum" pitchFamily="2" charset="-78"/>
                <a:cs typeface="KalamehFaNum" pitchFamily="2" charset="-78"/>
              </a:rPr>
              <a:t>همکاری با سازمان‌های فرهنگی برای دسترسی رایگان به کتاب‌های صوتی برای مدارس و فرهنگسرا ها</a:t>
            </a:r>
          </a:p>
          <a:p>
            <a:pPr marL="285750" indent="-285750" algn="r" rtl="1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fa-IR" altLang="en-US" sz="1600" dirty="0">
                <a:latin typeface="KalamehFaNum" pitchFamily="2" charset="-78"/>
                <a:cs typeface="KalamehFaNum" pitchFamily="2" charset="-78"/>
              </a:rPr>
              <a:t>امکان ایجاد دسترسی برای آموزشگاه جهت تولید محتوای تخصصی به صورت صوتی</a:t>
            </a:r>
          </a:p>
          <a:p>
            <a:pPr marL="285750" indent="-285750" algn="r" rtl="1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fa-IR" altLang="en-US" sz="1600" dirty="0">
                <a:latin typeface="KalamehFaNum" pitchFamily="2" charset="-78"/>
                <a:cs typeface="KalamehFaNum" pitchFamily="2" charset="-78"/>
              </a:rPr>
              <a:t>امکان استفاده برای گروه های کم توان با ارائه امکانات مختلف در برنامه</a:t>
            </a:r>
          </a:p>
          <a:p>
            <a:pPr marL="285750" indent="-285750" algn="r" rtl="1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fa-IR" altLang="en-US" sz="1600" dirty="0">
                <a:latin typeface="KalamehFaNum" pitchFamily="2" charset="-78"/>
                <a:cs typeface="KalamehFaNum" pitchFamily="2" charset="-78"/>
              </a:rPr>
              <a:t>امکان بهره برداری از </a:t>
            </a:r>
            <a:r>
              <a:rPr lang="en-US" altLang="en-US" sz="1600" dirty="0">
                <a:latin typeface="KalamehFaNum" pitchFamily="2" charset="-78"/>
                <a:cs typeface="KalamehFaNum" pitchFamily="2" charset="-78"/>
              </a:rPr>
              <a:t>pdf</a:t>
            </a:r>
            <a:r>
              <a:rPr lang="fa-IR" altLang="en-US" sz="1600" dirty="0">
                <a:latin typeface="KalamehFaNum" pitchFamily="2" charset="-78"/>
                <a:cs typeface="KalamehFaNum" pitchFamily="2" charset="-78"/>
              </a:rPr>
              <a:t> های پیشنهادی کاربران با صدای درخواستی</a:t>
            </a:r>
          </a:p>
          <a:p>
            <a:pPr marL="285750" indent="-285750" algn="r" rtl="1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fa-IR" altLang="en-US" sz="1600" dirty="0">
                <a:latin typeface="KalamehFaNum" pitchFamily="2" charset="-78"/>
                <a:cs typeface="KalamehFaNum" pitchFamily="2" charset="-78"/>
              </a:rPr>
              <a:t>امکان گوش دادن به کتاب های صوتی با صدای درخواستی</a:t>
            </a:r>
          </a:p>
        </p:txBody>
      </p:sp>
    </p:spTree>
    <p:extLst>
      <p:ext uri="{BB962C8B-B14F-4D97-AF65-F5344CB8AC3E}">
        <p14:creationId xmlns:p14="http://schemas.microsoft.com/office/powerpoint/2010/main" val="10736015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25DDD-B495-44F2-34F8-3126FF6D1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b="1" dirty="0">
                <a:latin typeface="Sahel" panose="020B0603030804020204" pitchFamily="34" charset="-78"/>
                <a:cs typeface="Sahel" panose="020B0603030804020204" pitchFamily="34" charset="-78"/>
              </a:rPr>
              <a:t>جامعه هدف</a:t>
            </a:r>
            <a:endParaRPr lang="en-US" b="1" dirty="0">
              <a:latin typeface="Sahel" panose="020B0603030804020204" pitchFamily="34" charset="-78"/>
              <a:cs typeface="Sahel" panose="020B0603030804020204" pitchFamily="34" charset="-78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814E38-20A0-5C7D-A92A-F9C9C0FFEBC8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5408762" y="2268902"/>
            <a:ext cx="6133382" cy="3528397"/>
          </a:xfrm>
        </p:spPr>
        <p:txBody>
          <a:bodyPr/>
          <a:lstStyle/>
          <a:p>
            <a:pPr algn="r" rtl="1"/>
            <a:r>
              <a:rPr lang="fa-IR" sz="1600" b="1" dirty="0">
                <a:latin typeface="KalamehFaNum" pitchFamily="2" charset="-78"/>
                <a:cs typeface="KalamehFaNum" pitchFamily="2" charset="-78"/>
              </a:rPr>
              <a:t>1. </a:t>
            </a:r>
            <a:r>
              <a:rPr lang="fa-IR" sz="1600" b="1" dirty="0">
                <a:effectLst/>
                <a:latin typeface="KalamehFaNum" pitchFamily="2" charset="-78"/>
                <a:cs typeface="KalamehFaNum" pitchFamily="2" charset="-78"/>
              </a:rPr>
              <a:t>دانشگاهیان</a:t>
            </a:r>
            <a:endParaRPr lang="fa-IR" sz="1600" b="1" dirty="0">
              <a:latin typeface="KalamehFaNum" pitchFamily="2" charset="-78"/>
              <a:cs typeface="KalamehFaNum" pitchFamily="2" charset="-78"/>
            </a:endParaRPr>
          </a:p>
          <a:p>
            <a:pPr lvl="2" algn="r" rtl="1"/>
            <a:r>
              <a:rPr lang="fa-IR" sz="1400" b="1" dirty="0">
                <a:effectLst/>
                <a:latin typeface="KalamehFaNum" pitchFamily="2" charset="-78"/>
                <a:cs typeface="KalamehFaNum" pitchFamily="2" charset="-78"/>
              </a:rPr>
              <a:t>اساتید دانشگاه</a:t>
            </a:r>
            <a:r>
              <a:rPr lang="fa-IR" sz="1400" dirty="0">
                <a:effectLst/>
                <a:latin typeface="KalamehFaNum" pitchFamily="2" charset="-78"/>
                <a:cs typeface="KalamehFaNum" pitchFamily="2" charset="-78"/>
              </a:rPr>
              <a:t>: شامل اعضای هیئت علمی، استادان تمام‌وقت و پاره‌وقت</a:t>
            </a:r>
          </a:p>
          <a:p>
            <a:pPr lvl="2" algn="r" rtl="1"/>
            <a:r>
              <a:rPr lang="fa-IR" sz="1400" b="1" dirty="0">
                <a:effectLst/>
                <a:latin typeface="KalamehFaNum" pitchFamily="2" charset="-78"/>
                <a:cs typeface="KalamehFaNum" pitchFamily="2" charset="-78"/>
              </a:rPr>
              <a:t>دانشجویان</a:t>
            </a:r>
            <a:r>
              <a:rPr lang="fa-IR" sz="1400" dirty="0">
                <a:effectLst/>
                <a:latin typeface="KalamehFaNum" pitchFamily="2" charset="-78"/>
                <a:cs typeface="KalamehFaNum" pitchFamily="2" charset="-78"/>
              </a:rPr>
              <a:t>: شامل دانشجویان کارشناسی، ارشد و دکتری</a:t>
            </a:r>
          </a:p>
          <a:p>
            <a:pPr lvl="2" algn="r" rtl="1"/>
            <a:r>
              <a:rPr lang="fa-IR" sz="1400" b="1" dirty="0">
                <a:effectLst/>
                <a:latin typeface="KalamehFaNum" pitchFamily="2" charset="-78"/>
                <a:cs typeface="KalamehFaNum" pitchFamily="2" charset="-78"/>
              </a:rPr>
              <a:t>پژوهشگران</a:t>
            </a:r>
            <a:r>
              <a:rPr lang="fa-IR" sz="1400" dirty="0">
                <a:effectLst/>
                <a:latin typeface="KalamehFaNum" pitchFamily="2" charset="-78"/>
                <a:cs typeface="KalamehFaNum" pitchFamily="2" charset="-78"/>
              </a:rPr>
              <a:t>: افرادی که در پروژه‌های تحقیقاتی و علمی فعالیت دارند</a:t>
            </a:r>
          </a:p>
          <a:p>
            <a:pPr algn="r" rtl="1"/>
            <a:r>
              <a:rPr lang="fa-IR" sz="1600" b="1" dirty="0">
                <a:latin typeface="KalamehFaNum" pitchFamily="2" charset="-78"/>
                <a:cs typeface="KalamehFaNum" pitchFamily="2" charset="-78"/>
              </a:rPr>
              <a:t>2. </a:t>
            </a:r>
            <a:r>
              <a:rPr lang="fa-IR" sz="1600" b="1" dirty="0">
                <a:effectLst/>
                <a:latin typeface="KalamehFaNum" pitchFamily="2" charset="-78"/>
                <a:cs typeface="KalamehFaNum" pitchFamily="2" charset="-78"/>
              </a:rPr>
              <a:t>کارآفرینان</a:t>
            </a:r>
            <a:endParaRPr lang="fa-IR" sz="1600" b="1" dirty="0">
              <a:latin typeface="KalamehFaNum" pitchFamily="2" charset="-78"/>
              <a:cs typeface="KalamehFaNum" pitchFamily="2" charset="-78"/>
            </a:endParaRPr>
          </a:p>
          <a:p>
            <a:pPr lvl="2" algn="r" rtl="1"/>
            <a:r>
              <a:rPr lang="fa-IR" sz="1400" b="1" dirty="0">
                <a:effectLst/>
                <a:latin typeface="KalamehFaNum" pitchFamily="2" charset="-78"/>
                <a:cs typeface="KalamehFaNum" pitchFamily="2" charset="-78"/>
              </a:rPr>
              <a:t>کارآفرینان نوپا</a:t>
            </a:r>
            <a:r>
              <a:rPr lang="fa-IR" sz="1400" dirty="0">
                <a:effectLst/>
                <a:latin typeface="KalamehFaNum" pitchFamily="2" charset="-78"/>
                <a:cs typeface="KalamehFaNum" pitchFamily="2" charset="-78"/>
              </a:rPr>
              <a:t>: کسانی که تازه کسب‌وکار خود را راه‌اندازی کرده‌اند</a:t>
            </a:r>
          </a:p>
          <a:p>
            <a:pPr lvl="2" algn="r" rtl="1"/>
            <a:r>
              <a:rPr lang="fa-IR" sz="1400" b="1" dirty="0">
                <a:effectLst/>
                <a:latin typeface="KalamehFaNum" pitchFamily="2" charset="-78"/>
                <a:cs typeface="KalamehFaNum" pitchFamily="2" charset="-78"/>
              </a:rPr>
              <a:t>کارآفرینان باتجربه</a:t>
            </a:r>
            <a:r>
              <a:rPr lang="fa-IR" sz="1400" dirty="0">
                <a:effectLst/>
                <a:latin typeface="KalamehFaNum" pitchFamily="2" charset="-78"/>
                <a:cs typeface="KalamehFaNum" pitchFamily="2" charset="-78"/>
              </a:rPr>
              <a:t>: کسانی که سال‌ها در صنعت یا کسب‌وکار فعالیت داشته‌اند</a:t>
            </a:r>
          </a:p>
          <a:p>
            <a:pPr lvl="2" algn="r" rtl="1"/>
            <a:r>
              <a:rPr lang="fa-IR" sz="1400" b="1" dirty="0">
                <a:effectLst/>
                <a:latin typeface="KalamehFaNum" pitchFamily="2" charset="-78"/>
                <a:cs typeface="KalamehFaNum" pitchFamily="2" charset="-78"/>
              </a:rPr>
              <a:t>استارتاپ‌ها</a:t>
            </a:r>
            <a:r>
              <a:rPr lang="fa-IR" sz="1400" dirty="0">
                <a:effectLst/>
                <a:latin typeface="KalamehFaNum" pitchFamily="2" charset="-78"/>
                <a:cs typeface="KalamehFaNum" pitchFamily="2" charset="-78"/>
              </a:rPr>
              <a:t>: گروه‌هایی که بر روی پروژه‌های نوآورانه تمرکز دارند</a:t>
            </a:r>
          </a:p>
          <a:p>
            <a:pPr lvl="2" algn="r" rtl="1"/>
            <a:r>
              <a:rPr lang="fa-IR" sz="1400" b="1" dirty="0">
                <a:effectLst/>
                <a:latin typeface="KalamehFaNum" pitchFamily="2" charset="-78"/>
                <a:cs typeface="KalamehFaNum" pitchFamily="2" charset="-78"/>
              </a:rPr>
              <a:t>کارآفرینان اجتماعی</a:t>
            </a:r>
            <a:r>
              <a:rPr lang="fa-IR" sz="1400" dirty="0">
                <a:effectLst/>
                <a:latin typeface="KalamehFaNum" pitchFamily="2" charset="-78"/>
                <a:cs typeface="KalamehFaNum" pitchFamily="2" charset="-78"/>
              </a:rPr>
              <a:t>: کسانی که به دنبال ایجاد تغییرات اجتماعی و بهبود جامعه از طریق کسب‌وکار هستند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03B4E4-6AAE-88A6-EC92-AC5F8F2D7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2AA26F19-B646-D8F2-465B-7FC0A41BB024}"/>
              </a:ext>
            </a:extLst>
          </p:cNvPr>
          <p:cNvSpPr txBox="1">
            <a:spLocks/>
          </p:cNvSpPr>
          <p:nvPr/>
        </p:nvSpPr>
        <p:spPr>
          <a:xfrm>
            <a:off x="1561381" y="2483351"/>
            <a:ext cx="4019910" cy="35283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kern="1200" spc="0" baseline="0">
                <a:solidFill>
                  <a:schemeClr val="bg1"/>
                </a:solidFill>
                <a:latin typeface="+mn-lt"/>
                <a:ea typeface="+mn-ea"/>
                <a:cs typeface="Biome" panose="020B0503030204020804" pitchFamily="34" charset="0"/>
              </a:defRPr>
            </a:lvl1pPr>
            <a:lvl2pPr marL="283464" indent="-28575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 spc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566928" indent="-28575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 spc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859536" indent="-28575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 spc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en-US" b="1" dirty="0">
                <a:latin typeface="KalamehFaNum" pitchFamily="2" charset="-78"/>
                <a:cs typeface="KalamehFaNum" pitchFamily="2" charset="-78"/>
              </a:rPr>
              <a:t>3</a:t>
            </a:r>
            <a:r>
              <a:rPr lang="fa-IR" b="1" dirty="0">
                <a:latin typeface="KalamehFaNum" pitchFamily="2" charset="-78"/>
                <a:cs typeface="KalamehFaNum" pitchFamily="2" charset="-78"/>
              </a:rPr>
              <a:t>. </a:t>
            </a:r>
            <a:r>
              <a:rPr lang="fa-IR" b="1" dirty="0">
                <a:effectLst/>
                <a:latin typeface="KalamehFaNum" pitchFamily="2" charset="-78"/>
                <a:cs typeface="KalamehFaNum" pitchFamily="2" charset="-78"/>
              </a:rPr>
              <a:t>مدیران</a:t>
            </a:r>
            <a:endParaRPr lang="fa-IR" b="1" dirty="0">
              <a:latin typeface="KalamehFaNum" pitchFamily="2" charset="-78"/>
              <a:cs typeface="KalamehFaNum" pitchFamily="2" charset="-78"/>
            </a:endParaRPr>
          </a:p>
          <a:p>
            <a:pPr lvl="1" algn="r" rtl="1"/>
            <a:r>
              <a:rPr lang="fa-IR" sz="1400" b="1" dirty="0">
                <a:effectLst/>
                <a:latin typeface="KalamehFaNum" pitchFamily="2" charset="-78"/>
                <a:cs typeface="KalamehFaNum" pitchFamily="2" charset="-78"/>
              </a:rPr>
              <a:t>مدیران اجرایی</a:t>
            </a:r>
            <a:r>
              <a:rPr lang="fa-IR" sz="1400" dirty="0">
                <a:effectLst/>
                <a:latin typeface="KalamehFaNum" pitchFamily="2" charset="-78"/>
                <a:cs typeface="KalamehFaNum" pitchFamily="2" charset="-78"/>
              </a:rPr>
              <a:t>: شامل مدیران عامل و مدیران ارشد سازمان‌ها.</a:t>
            </a:r>
          </a:p>
          <a:p>
            <a:pPr lvl="1" algn="r" rtl="1"/>
            <a:r>
              <a:rPr lang="fa-IR" sz="1400" b="1" dirty="0">
                <a:effectLst/>
                <a:latin typeface="KalamehFaNum" pitchFamily="2" charset="-78"/>
                <a:cs typeface="KalamehFaNum" pitchFamily="2" charset="-78"/>
              </a:rPr>
              <a:t>مدیران مالی</a:t>
            </a:r>
            <a:r>
              <a:rPr lang="fa-IR" sz="1400" dirty="0">
                <a:effectLst/>
                <a:latin typeface="KalamehFaNum" pitchFamily="2" charset="-78"/>
                <a:cs typeface="KalamehFaNum" pitchFamily="2" charset="-78"/>
              </a:rPr>
              <a:t>: کسانی که مسئولیت مدیریت امور مالی سازمان را بر عهده دارند.</a:t>
            </a:r>
          </a:p>
          <a:p>
            <a:pPr lvl="1" algn="r" rtl="1"/>
            <a:r>
              <a:rPr lang="fa-IR" sz="1400" b="1" dirty="0">
                <a:effectLst/>
                <a:latin typeface="KalamehFaNum" pitchFamily="2" charset="-78"/>
                <a:cs typeface="KalamehFaNum" pitchFamily="2" charset="-78"/>
              </a:rPr>
              <a:t>مدیران منابع انسانی</a:t>
            </a:r>
            <a:r>
              <a:rPr lang="fa-IR" sz="1400" dirty="0">
                <a:effectLst/>
                <a:latin typeface="KalamehFaNum" pitchFamily="2" charset="-78"/>
                <a:cs typeface="KalamehFaNum" pitchFamily="2" charset="-78"/>
              </a:rPr>
              <a:t>: مسئول امور کارکنان و جذب نیرو.</a:t>
            </a:r>
          </a:p>
          <a:p>
            <a:pPr lvl="1" algn="r" rtl="1"/>
            <a:r>
              <a:rPr lang="fa-IR" sz="1400" b="1" dirty="0">
                <a:effectLst/>
                <a:latin typeface="KalamehFaNum" pitchFamily="2" charset="-78"/>
                <a:cs typeface="KalamehFaNum" pitchFamily="2" charset="-78"/>
              </a:rPr>
              <a:t>مدیران پروژه</a:t>
            </a:r>
            <a:r>
              <a:rPr lang="fa-IR" sz="1400" dirty="0">
                <a:effectLst/>
                <a:latin typeface="KalamehFaNum" pitchFamily="2" charset="-78"/>
                <a:cs typeface="KalamehFaNum" pitchFamily="2" charset="-78"/>
              </a:rPr>
              <a:t>: کسانی که پروژه‌های خاص را مدیریت و هدایت می‌کنند.</a:t>
            </a:r>
          </a:p>
        </p:txBody>
      </p:sp>
    </p:spTree>
    <p:extLst>
      <p:ext uri="{BB962C8B-B14F-4D97-AF65-F5344CB8AC3E}">
        <p14:creationId xmlns:p14="http://schemas.microsoft.com/office/powerpoint/2010/main" val="17458120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25DDD-B495-44F2-34F8-3126FF6D1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b="1" dirty="0">
                <a:latin typeface="Sahel" panose="020B0603030804020204" pitchFamily="34" charset="-78"/>
                <a:cs typeface="Sahel" panose="020B0603030804020204" pitchFamily="34" charset="-78"/>
              </a:rPr>
              <a:t>اندازه جامعه هدف</a:t>
            </a:r>
            <a:endParaRPr lang="en-US" b="1" dirty="0">
              <a:latin typeface="Sahel" panose="020B0603030804020204" pitchFamily="34" charset="-78"/>
              <a:cs typeface="Sahel" panose="020B0603030804020204" pitchFamily="34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5E363-AD53-D049-3A11-B1396AAD1446}"/>
              </a:ext>
            </a:extLst>
          </p:cNvPr>
          <p:cNvSpPr>
            <a:spLocks noGrp="1"/>
          </p:cNvSpPr>
          <p:nvPr>
            <p:ph sz="quarter" idx="3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814E38-20A0-5C7D-A92A-F9C9C0FFEBC8}"/>
              </a:ext>
            </a:extLst>
          </p:cNvPr>
          <p:cNvSpPr>
            <a:spLocks noGrp="1"/>
          </p:cNvSpPr>
          <p:nvPr>
            <p:ph sz="quarter" idx="3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03B4E4-6AAE-88A6-EC92-AC5F8F2D7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9363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0AA79-4B1C-A7FD-6AEB-D3044A5C2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b="1" dirty="0">
                <a:latin typeface="Sahel" panose="020B0603030804020204" pitchFamily="34" charset="-78"/>
                <a:cs typeface="Sahel" panose="020B0603030804020204" pitchFamily="34" charset="-78"/>
              </a:rPr>
              <a:t>مدل کسب و کار و مدل درآمدی</a:t>
            </a:r>
            <a:endParaRPr lang="en-US" b="1" dirty="0">
              <a:latin typeface="Sahel" panose="020B0603030804020204" pitchFamily="34" charset="-78"/>
              <a:cs typeface="Sahel" panose="020B0603030804020204" pitchFamily="34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266C7-2515-3841-9ABA-A590357441EE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1873130" y="2328764"/>
            <a:ext cx="4222870" cy="4124771"/>
          </a:xfrm>
        </p:spPr>
        <p:txBody>
          <a:bodyPr/>
          <a:lstStyle/>
          <a:p>
            <a:pPr algn="r" rtl="1"/>
            <a:r>
              <a:rPr lang="fa-IR" sz="2400" b="1" dirty="0">
                <a:latin typeface="KalamehFaNum" pitchFamily="2" charset="-78"/>
                <a:cs typeface="KalamehFaNum" pitchFamily="2" charset="-78"/>
              </a:rPr>
              <a:t>مدل درآمدی: </a:t>
            </a:r>
            <a:endParaRPr lang="fa-IR" sz="700" b="1" dirty="0">
              <a:latin typeface="KalamehFaNum" pitchFamily="2" charset="-78"/>
              <a:cs typeface="KalamehFaNum" pitchFamily="2" charset="-78"/>
            </a:endParaRPr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fa-IR" sz="100" b="1" dirty="0">
              <a:effectLst/>
              <a:latin typeface="KalamehFaNum" pitchFamily="2" charset="-78"/>
              <a:cs typeface="KalamehFaNum" pitchFamily="2" charset="-78"/>
            </a:endParaRP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fa-IR" sz="1600" dirty="0">
                <a:effectLst/>
                <a:latin typeface="KalamehFaNum" pitchFamily="2" charset="-78"/>
                <a:cs typeface="KalamehFaNum" pitchFamily="2" charset="-78"/>
              </a:rPr>
              <a:t>فروش کتاب صوتی (کمیسیون فروش)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fa-IR" sz="1600" dirty="0">
                <a:effectLst/>
                <a:latin typeface="KalamehFaNum" pitchFamily="2" charset="-78"/>
                <a:cs typeface="KalamehFaNum" pitchFamily="2" charset="-78"/>
              </a:rPr>
              <a:t>تبلیغات هدفمند در پلتفرم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fa-IR" sz="1600" dirty="0">
                <a:effectLst/>
                <a:latin typeface="KalamehFaNum" pitchFamily="2" charset="-78"/>
                <a:cs typeface="KalamehFaNum" pitchFamily="2" charset="-78"/>
              </a:rPr>
              <a:t>اشتراک‌های ماهانه/کاربر (برنزی، نقره‌ای، طلایی، الماسی) برای کتابخوان تلاشگر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fa-IR" sz="1600" dirty="0">
                <a:latin typeface="KalamehFaNum" pitchFamily="2" charset="-78"/>
                <a:cs typeface="KalamehFaNum" pitchFamily="2" charset="-78"/>
              </a:rPr>
              <a:t>فروش پک های فرهنگی</a:t>
            </a:r>
            <a:endParaRPr lang="fa-IR" sz="1600" dirty="0">
              <a:effectLst/>
              <a:latin typeface="KalamehFaNum" pitchFamily="2" charset="-78"/>
              <a:cs typeface="KalamehFaNum" pitchFamily="2" charset="-78"/>
            </a:endParaRP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fa-IR" sz="1600" dirty="0">
                <a:effectLst/>
                <a:latin typeface="KalamehFaNum" pitchFamily="2" charset="-78"/>
                <a:cs typeface="KalamehFaNum" pitchFamily="2" charset="-78"/>
              </a:rPr>
              <a:t>فروش تایپوگرافی به صورت فیزیکی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fa-IR" sz="1600" dirty="0">
                <a:effectLst/>
                <a:latin typeface="KalamehFaNum" pitchFamily="2" charset="-78"/>
                <a:cs typeface="KalamehFaNum" pitchFamily="2" charset="-78"/>
              </a:rPr>
              <a:t>قرارداد همکاری با ارگان‌ها و سازمان‌ها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fa-IR" sz="1600" dirty="0">
                <a:latin typeface="KalamehFaNum" pitchFamily="2" charset="-78"/>
                <a:cs typeface="KalamehFaNum" pitchFamily="2" charset="-78"/>
              </a:rPr>
              <a:t>درصدی از خرید و فروش محتوای صوتی</a:t>
            </a:r>
            <a:endParaRPr lang="fa-IR" sz="1600" dirty="0">
              <a:effectLst/>
              <a:latin typeface="KalamehFaNum" pitchFamily="2" charset="-78"/>
              <a:cs typeface="KalamehFaNum" pitchFamily="2" charset="-78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7F3732-7246-1C88-14C0-357A75DD9C21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6096001" y="2337022"/>
            <a:ext cx="4960442" cy="4116513"/>
          </a:xfrm>
        </p:spPr>
        <p:txBody>
          <a:bodyPr/>
          <a:lstStyle/>
          <a:p>
            <a:pPr algn="r" rtl="1"/>
            <a:r>
              <a:rPr lang="fa-IR" sz="2400" b="1" dirty="0">
                <a:latin typeface="KalamehFaNum" pitchFamily="2" charset="-78"/>
                <a:cs typeface="KalamehFaNum" pitchFamily="2" charset="-78"/>
              </a:rPr>
              <a:t>مدل کسب و کار:</a:t>
            </a:r>
            <a:endParaRPr lang="fa-IR" sz="700" b="1" dirty="0">
              <a:latin typeface="KalamehFaNum" pitchFamily="2" charset="-78"/>
              <a:cs typeface="KalamehFaNum" pitchFamily="2" charset="-78"/>
            </a:endParaRPr>
          </a:p>
          <a:p>
            <a:pPr algn="r" rtl="1"/>
            <a:r>
              <a:rPr lang="fa-IR" sz="1600" dirty="0">
                <a:effectLst/>
                <a:latin typeface="KalamehFaNum" pitchFamily="2" charset="-78"/>
                <a:cs typeface="KalamehFaNum" pitchFamily="2" charset="-78"/>
              </a:rPr>
              <a:t>پلتفرم دو سویه </a:t>
            </a:r>
            <a:r>
              <a:rPr lang="en-US" sz="1600" dirty="0">
                <a:effectLst/>
                <a:latin typeface="KalamehFaNum" pitchFamily="2" charset="-78"/>
                <a:cs typeface="KalamehFaNum" pitchFamily="2" charset="-78"/>
              </a:rPr>
              <a:t>Marketplace)</a:t>
            </a:r>
            <a:r>
              <a:rPr lang="fa-IR" sz="1600" dirty="0">
                <a:effectLst/>
                <a:latin typeface="KalamehFaNum" pitchFamily="2" charset="-78"/>
                <a:cs typeface="KalamehFaNum" pitchFamily="2" charset="-78"/>
              </a:rPr>
              <a:t>)</a:t>
            </a:r>
          </a:p>
          <a:p>
            <a:pPr algn="r" rtl="1"/>
            <a:endParaRPr lang="en-US" sz="1600" dirty="0">
              <a:effectLst/>
              <a:latin typeface="KalamehFaNum" pitchFamily="2" charset="-78"/>
              <a:cs typeface="KalamehFaNum" pitchFamily="2" charset="-78"/>
            </a:endParaRP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sz="1600" b="1" dirty="0">
                <a:effectLst/>
                <a:latin typeface="KalamehFaNum" pitchFamily="2" charset="-78"/>
                <a:cs typeface="KalamehFaNum" pitchFamily="2" charset="-78"/>
              </a:rPr>
              <a:t>B</a:t>
            </a:r>
            <a:r>
              <a:rPr lang="en-US" sz="1600" b="1" dirty="0">
                <a:cs typeface="KalamehFaNum" pitchFamily="2" charset="-78"/>
              </a:rPr>
              <a:t>2</a:t>
            </a:r>
            <a:r>
              <a:rPr lang="en-US" sz="1600" b="1" dirty="0">
                <a:effectLst/>
                <a:latin typeface="KalamehFaNum" pitchFamily="2" charset="-78"/>
                <a:cs typeface="KalamehFaNum" pitchFamily="2" charset="-78"/>
              </a:rPr>
              <a:t>C</a:t>
            </a:r>
            <a:r>
              <a:rPr lang="fa-IR" sz="1600" b="1" dirty="0">
                <a:effectLst/>
                <a:latin typeface="KalamehFaNum" pitchFamily="2" charset="-78"/>
                <a:cs typeface="KalamehFaNum" pitchFamily="2" charset="-78"/>
              </a:rPr>
              <a:t>:</a:t>
            </a:r>
            <a:r>
              <a:rPr lang="en-US" sz="1600" dirty="0">
                <a:effectLst/>
                <a:latin typeface="KalamehFaNum" pitchFamily="2" charset="-78"/>
                <a:cs typeface="KalamehFaNum" pitchFamily="2" charset="-78"/>
              </a:rPr>
              <a:t> </a:t>
            </a:r>
            <a:r>
              <a:rPr lang="fa-IR" sz="1600" dirty="0">
                <a:effectLst/>
                <a:latin typeface="KalamehFaNum" pitchFamily="2" charset="-78"/>
                <a:cs typeface="KalamehFaNum" pitchFamily="2" charset="-78"/>
              </a:rPr>
              <a:t>ارائه خدمات مختلف در رابطه با کتاب صوتی به کاربران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sz="1600" b="1" dirty="0">
                <a:effectLst/>
                <a:latin typeface="KalamehFaNum" pitchFamily="2" charset="-78"/>
                <a:cs typeface="KalamehFaNum" pitchFamily="2" charset="-78"/>
              </a:rPr>
              <a:t>B</a:t>
            </a:r>
            <a:r>
              <a:rPr lang="en-US" sz="1600" b="1" dirty="0">
                <a:effectLst/>
                <a:cs typeface="KalamehFaNum" pitchFamily="2" charset="-78"/>
              </a:rPr>
              <a:t>2</a:t>
            </a:r>
            <a:r>
              <a:rPr lang="en-US" sz="1600" b="1" dirty="0">
                <a:effectLst/>
                <a:latin typeface="KalamehFaNum" pitchFamily="2" charset="-78"/>
                <a:cs typeface="KalamehFaNum" pitchFamily="2" charset="-78"/>
              </a:rPr>
              <a:t>B</a:t>
            </a:r>
            <a:r>
              <a:rPr lang="fa-IR" sz="1600" b="1" dirty="0">
                <a:effectLst/>
                <a:latin typeface="KalamehFaNum" pitchFamily="2" charset="-78"/>
                <a:cs typeface="KalamehFaNum" pitchFamily="2" charset="-78"/>
              </a:rPr>
              <a:t>:</a:t>
            </a:r>
            <a:r>
              <a:rPr lang="en-US" sz="1600" dirty="0">
                <a:effectLst/>
                <a:latin typeface="KalamehFaNum" pitchFamily="2" charset="-78"/>
                <a:cs typeface="KalamehFaNum" pitchFamily="2" charset="-78"/>
              </a:rPr>
              <a:t> </a:t>
            </a:r>
            <a:r>
              <a:rPr lang="fa-IR" sz="1600" dirty="0">
                <a:effectLst/>
                <a:latin typeface="KalamehFaNum" pitchFamily="2" charset="-78"/>
                <a:cs typeface="KalamehFaNum" pitchFamily="2" charset="-78"/>
              </a:rPr>
              <a:t>ارائه خدمات به </a:t>
            </a:r>
            <a:r>
              <a:rPr lang="fa-IR" sz="1600" dirty="0">
                <a:latin typeface="KalamehFaNum" pitchFamily="2" charset="-78"/>
                <a:cs typeface="KalamehFaNum" pitchFamily="2" charset="-78"/>
              </a:rPr>
              <a:t>موسسات فرهنگی، همکاری با آموزشگاه‌های زبان و آموزشگاه های مختلف</a:t>
            </a:r>
            <a:endParaRPr lang="fa-IR" sz="1600" dirty="0">
              <a:effectLst/>
              <a:latin typeface="KalamehFaNum" pitchFamily="2" charset="-78"/>
              <a:cs typeface="KalamehFaNum" pitchFamily="2" charset="-78"/>
            </a:endParaRP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sz="1600" b="1" dirty="0">
                <a:effectLst/>
                <a:latin typeface="KalamehFaNum" pitchFamily="2" charset="-78"/>
                <a:cs typeface="KalamehFaNum" pitchFamily="2" charset="-78"/>
              </a:rPr>
              <a:t>B</a:t>
            </a:r>
            <a:r>
              <a:rPr lang="en-US" sz="1600" b="1" dirty="0">
                <a:effectLst/>
                <a:cs typeface="KalamehFaNum" pitchFamily="2" charset="-78"/>
              </a:rPr>
              <a:t>2</a:t>
            </a:r>
            <a:r>
              <a:rPr lang="en-US" sz="1600" b="1" dirty="0">
                <a:effectLst/>
                <a:latin typeface="KalamehFaNum" pitchFamily="2" charset="-78"/>
                <a:cs typeface="KalamehFaNum" pitchFamily="2" charset="-78"/>
              </a:rPr>
              <a:t>G</a:t>
            </a:r>
            <a:r>
              <a:rPr lang="fa-IR" sz="1600" b="1" dirty="0">
                <a:effectLst/>
                <a:latin typeface="KalamehFaNum" pitchFamily="2" charset="-78"/>
                <a:cs typeface="KalamehFaNum" pitchFamily="2" charset="-78"/>
              </a:rPr>
              <a:t>:</a:t>
            </a:r>
            <a:r>
              <a:rPr lang="en-US" sz="1600" dirty="0">
                <a:effectLst/>
                <a:latin typeface="KalamehFaNum" pitchFamily="2" charset="-78"/>
                <a:cs typeface="KalamehFaNum" pitchFamily="2" charset="-78"/>
              </a:rPr>
              <a:t> </a:t>
            </a:r>
            <a:r>
              <a:rPr lang="fa-IR" sz="1600" dirty="0">
                <a:effectLst/>
                <a:latin typeface="KalamehFaNum" pitchFamily="2" charset="-78"/>
                <a:cs typeface="KalamehFaNum" pitchFamily="2" charset="-78"/>
              </a:rPr>
              <a:t>همکاری با وزارت فرهنگ و نهادهای فرهنگی</a:t>
            </a:r>
          </a:p>
          <a:p>
            <a:pPr algn="r" rtl="1"/>
            <a:endParaRPr lang="fa-IR" sz="100" b="1" dirty="0">
              <a:latin typeface="KalamehFaNum" pitchFamily="2" charset="-78"/>
              <a:cs typeface="KalamehFaNum" pitchFamily="2" charset="-78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939FFB-74E8-ACDB-C2A6-4165F9BC9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60922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B257274-1111-25E3-D2EE-0123466A34A7}"/>
              </a:ext>
            </a:extLst>
          </p:cNvPr>
          <p:cNvSpPr/>
          <p:nvPr/>
        </p:nvSpPr>
        <p:spPr>
          <a:xfrm>
            <a:off x="3200400" y="1828800"/>
            <a:ext cx="8126084" cy="258792"/>
          </a:xfrm>
          <a:prstGeom prst="rect">
            <a:avLst/>
          </a:prstGeom>
          <a:solidFill>
            <a:srgbClr val="010D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D6DFE4-71C0-782A-EED1-DEDBC6C12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5B77C4C-68A0-BF3F-123E-2ECAAC422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5935" y="255772"/>
            <a:ext cx="7420819" cy="777363"/>
          </a:xfrm>
        </p:spPr>
        <p:txBody>
          <a:bodyPr/>
          <a:lstStyle/>
          <a:p>
            <a:pPr algn="r" rtl="1"/>
            <a:r>
              <a:rPr lang="fa-IR" b="1" dirty="0">
                <a:latin typeface="Sahel" panose="020B0603030804020204" pitchFamily="34" charset="-78"/>
                <a:cs typeface="Sahel" panose="020B0603030804020204" pitchFamily="34" charset="-78"/>
              </a:rPr>
              <a:t>مقایسه رقبا</a:t>
            </a:r>
            <a:endParaRPr lang="en-US" b="1" dirty="0">
              <a:latin typeface="Sahel" panose="020B0603030804020204" pitchFamily="34" charset="-78"/>
              <a:cs typeface="Sahel" panose="020B0603030804020204" pitchFamily="34" charset="-78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A5269B-2D5D-ACEE-6A03-552C82A533B6}"/>
              </a:ext>
            </a:extLst>
          </p:cNvPr>
          <p:cNvSpPr/>
          <p:nvPr/>
        </p:nvSpPr>
        <p:spPr>
          <a:xfrm>
            <a:off x="3338423" y="1210227"/>
            <a:ext cx="7988061" cy="27432"/>
          </a:xfrm>
          <a:prstGeom prst="rect">
            <a:avLst/>
          </a:prstGeom>
          <a:solidFill>
            <a:srgbClr val="940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F8D44D-6180-3A6F-0858-19271A4B4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0671" y="1662638"/>
            <a:ext cx="8842076" cy="739765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2FC92C20-458B-FAFC-D4EB-9A6FD168C7AB}"/>
              </a:ext>
            </a:extLst>
          </p:cNvPr>
          <p:cNvSpPr/>
          <p:nvPr/>
        </p:nvSpPr>
        <p:spPr>
          <a:xfrm>
            <a:off x="9387732" y="2324550"/>
            <a:ext cx="1443642" cy="1443642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solidFill>
              <a:srgbClr val="5E94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117B4FE-D108-66B2-20E0-58D58290FA44}"/>
              </a:ext>
            </a:extLst>
          </p:cNvPr>
          <p:cNvSpPr/>
          <p:nvPr/>
        </p:nvSpPr>
        <p:spPr>
          <a:xfrm>
            <a:off x="10694656" y="3649403"/>
            <a:ext cx="1443642" cy="1443642"/>
          </a:xfrm>
          <a:prstGeom prst="ellipse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solidFill>
              <a:srgbClr val="00B1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75126C3-EA18-DEBA-B05F-B7A996022989}"/>
              </a:ext>
            </a:extLst>
          </p:cNvPr>
          <p:cNvSpPr/>
          <p:nvPr/>
        </p:nvSpPr>
        <p:spPr>
          <a:xfrm>
            <a:off x="9377146" y="4814147"/>
            <a:ext cx="1443642" cy="1443642"/>
          </a:xfrm>
          <a:prstGeom prst="ellipse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solidFill>
              <a:srgbClr val="557E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3600B61-BD0C-4748-1B5A-F411983889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271" y="961788"/>
            <a:ext cx="8842076" cy="739765"/>
          </a:xfrm>
          <a:prstGeom prst="rect">
            <a:avLst/>
          </a:prstGeom>
        </p:spPr>
      </p:pic>
      <p:graphicFrame>
        <p:nvGraphicFramePr>
          <p:cNvPr id="17" name="Content Placeholder 16">
            <a:extLst>
              <a:ext uri="{FF2B5EF4-FFF2-40B4-BE49-F238E27FC236}">
                <a16:creationId xmlns:a16="http://schemas.microsoft.com/office/drawing/2014/main" id="{5BE9AFB0-FED5-4CF8-D28B-816DC43E0D1E}"/>
              </a:ext>
            </a:extLst>
          </p:cNvPr>
          <p:cNvGraphicFramePr>
            <a:graphicFrameLocks noGrp="1"/>
          </p:cNvGraphicFramePr>
          <p:nvPr>
            <p:ph sz="quarter" idx="31"/>
            <p:extLst>
              <p:ext uri="{D42A27DB-BD31-4B8C-83A1-F6EECF244321}">
                <p14:modId xmlns:p14="http://schemas.microsoft.com/office/powerpoint/2010/main" val="4260722497"/>
              </p:ext>
            </p:extLst>
          </p:nvPr>
        </p:nvGraphicFramePr>
        <p:xfrm>
          <a:off x="255109" y="333606"/>
          <a:ext cx="8885862" cy="608076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720340">
                  <a:extLst>
                    <a:ext uri="{9D8B030D-6E8A-4147-A177-3AD203B41FA5}">
                      <a16:colId xmlns:a16="http://schemas.microsoft.com/office/drawing/2014/main" val="2062064249"/>
                    </a:ext>
                  </a:extLst>
                </a:gridCol>
                <a:gridCol w="1241614">
                  <a:extLst>
                    <a:ext uri="{9D8B030D-6E8A-4147-A177-3AD203B41FA5}">
                      <a16:colId xmlns:a16="http://schemas.microsoft.com/office/drawing/2014/main" val="2124115897"/>
                    </a:ext>
                  </a:extLst>
                </a:gridCol>
                <a:gridCol w="1480977">
                  <a:extLst>
                    <a:ext uri="{9D8B030D-6E8A-4147-A177-3AD203B41FA5}">
                      <a16:colId xmlns:a16="http://schemas.microsoft.com/office/drawing/2014/main" val="430690723"/>
                    </a:ext>
                  </a:extLst>
                </a:gridCol>
                <a:gridCol w="1480977">
                  <a:extLst>
                    <a:ext uri="{9D8B030D-6E8A-4147-A177-3AD203B41FA5}">
                      <a16:colId xmlns:a16="http://schemas.microsoft.com/office/drawing/2014/main" val="2326351606"/>
                    </a:ext>
                  </a:extLst>
                </a:gridCol>
                <a:gridCol w="1480977">
                  <a:extLst>
                    <a:ext uri="{9D8B030D-6E8A-4147-A177-3AD203B41FA5}">
                      <a16:colId xmlns:a16="http://schemas.microsoft.com/office/drawing/2014/main" val="3621960478"/>
                    </a:ext>
                  </a:extLst>
                </a:gridCol>
                <a:gridCol w="1480977">
                  <a:extLst>
                    <a:ext uri="{9D8B030D-6E8A-4147-A177-3AD203B41FA5}">
                      <a16:colId xmlns:a16="http://schemas.microsoft.com/office/drawing/2014/main" val="24718490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fa-IR" sz="120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ویژگی/شرکت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1200" dirty="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فیدیبو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120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نوار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1200" dirty="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طاقچه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1200" dirty="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کتابراه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1200" dirty="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کتابا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2873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fa-IR" sz="1200" b="1" dirty="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تایمر </a:t>
                      </a:r>
                      <a:r>
                        <a:rPr lang="fa-IR" sz="1200" b="1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حالت استراحت</a:t>
                      </a:r>
                      <a:endParaRPr lang="fa-IR" sz="1200" dirty="0">
                        <a:latin typeface="KalamehFaNum" pitchFamily="2" charset="-78"/>
                        <a:cs typeface="KalamehFaNum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✔️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✔️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✔️</a:t>
                      </a: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5988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fa-IR" sz="1200" b="1" dirty="0">
                          <a:latin typeface="KalamehFaNum" pitchFamily="2" charset="-78"/>
                          <a:cs typeface="KalamehFaNum" pitchFamily="2" charset="-78"/>
                        </a:rPr>
                        <a:t>رتبه بندی کاربران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✔️</a:t>
                      </a: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3262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fa-IR" sz="1200" b="1" dirty="0">
                          <a:latin typeface="KalamehFaNum" pitchFamily="2" charset="-78"/>
                          <a:cs typeface="KalamehFaNum" pitchFamily="2" charset="-78"/>
                        </a:rPr>
                        <a:t>تخفیف به ازای مطالعه بیشتر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 dirty="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✔️</a:t>
                      </a:r>
                      <a:endParaRPr lang="fa-IR" sz="1200" dirty="0">
                        <a:ln>
                          <a:solidFill>
                            <a:sysClr val="windowText" lastClr="000000"/>
                          </a:solidFill>
                        </a:ln>
                        <a:effectLst/>
                        <a:latin typeface="KalamehFaNum" pitchFamily="2" charset="-78"/>
                        <a:cs typeface="KalamehFaNum" pitchFamily="2" charset="-78"/>
                      </a:endParaRP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715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fa-IR" sz="1200" b="1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محتوای انحصاری صوتی</a:t>
                      </a:r>
                      <a:endParaRPr lang="fa-IR" sz="1200">
                        <a:latin typeface="KalamehFaNum" pitchFamily="2" charset="-78"/>
                        <a:cs typeface="KalamehFaNum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✔️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 dirty="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 dirty="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✔️</a:t>
                      </a: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374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fa-IR" sz="1200" b="1" dirty="0">
                          <a:latin typeface="KalamehFaNum" pitchFamily="2" charset="-78"/>
                          <a:cs typeface="KalamehFaNum" pitchFamily="2" charset="-78"/>
                        </a:rPr>
                        <a:t>مشارکت کاربر در تولید محتوا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 dirty="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✔️</a:t>
                      </a:r>
                      <a:endParaRPr lang="en-US" sz="1200" dirty="0">
                        <a:ln>
                          <a:solidFill>
                            <a:sysClr val="windowText" lastClr="000000"/>
                          </a:solidFill>
                        </a:ln>
                        <a:effectLst/>
                        <a:latin typeface="KalamehFaNum" pitchFamily="2" charset="-78"/>
                        <a:cs typeface="KalamehFaNum" pitchFamily="2" charset="-78"/>
                      </a:endParaRP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07544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fa-IR" sz="1200" b="1" dirty="0">
                          <a:latin typeface="KalamehFaNum" pitchFamily="2" charset="-78"/>
                          <a:cs typeface="KalamehFaNum" pitchFamily="2" charset="-78"/>
                        </a:rPr>
                        <a:t>خوانش کتاب با صدای افراد مشهور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 dirty="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✔️</a:t>
                      </a:r>
                      <a:endParaRPr lang="en-US" sz="1200" dirty="0">
                        <a:ln>
                          <a:solidFill>
                            <a:sysClr val="windowText" lastClr="000000"/>
                          </a:solidFill>
                        </a:ln>
                        <a:effectLst/>
                        <a:latin typeface="KalamehFaNum" pitchFamily="2" charset="-78"/>
                        <a:cs typeface="KalamehFaNum" pitchFamily="2" charset="-78"/>
                      </a:endParaRP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2294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fa-IR" sz="1200" b="1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یادداشت‌برداری</a:t>
                      </a:r>
                      <a:endParaRPr lang="fa-IR" sz="1200">
                        <a:latin typeface="KalamehFaNum" pitchFamily="2" charset="-78"/>
                        <a:cs typeface="KalamehFaNum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✔️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✔️</a:t>
                      </a: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7455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fa-IR" sz="1200" b="1" dirty="0">
                          <a:latin typeface="KalamehFaNum" pitchFamily="2" charset="-78"/>
                          <a:cs typeface="KalamehFaNum" pitchFamily="2" charset="-78"/>
                        </a:rPr>
                        <a:t>خوانش کتاب با الگو صدای شخصی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 dirty="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✔️</a:t>
                      </a:r>
                      <a:endParaRPr lang="en-US" sz="1200" dirty="0">
                        <a:ln>
                          <a:solidFill>
                            <a:sysClr val="windowText" lastClr="000000"/>
                          </a:solidFill>
                        </a:ln>
                        <a:effectLst/>
                        <a:latin typeface="KalamehFaNum" pitchFamily="2" charset="-78"/>
                        <a:cs typeface="KalamehFaNum" pitchFamily="2" charset="-78"/>
                      </a:endParaRP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7587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fa-IR" sz="1200" b="1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پادکست و محتوای جانبی</a:t>
                      </a:r>
                      <a:endParaRPr lang="fa-IR" sz="1200">
                        <a:latin typeface="KalamehFaNum" pitchFamily="2" charset="-78"/>
                        <a:cs typeface="KalamehFaNum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✔️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✔️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✔️</a:t>
                      </a: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111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fa-IR" sz="1200" b="1" dirty="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پشتیبانی از لهجه ها  و قومیت های مختلف</a:t>
                      </a:r>
                      <a:endParaRPr lang="fa-IR" sz="1200" dirty="0">
                        <a:latin typeface="KalamehFaNum" pitchFamily="2" charset="-78"/>
                        <a:cs typeface="KalamehFaNum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✔️</a:t>
                      </a: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1842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fa-IR" sz="1200" b="1" dirty="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چت بات راهنما</a:t>
                      </a:r>
                      <a:endParaRPr lang="fa-IR" sz="1200" dirty="0">
                        <a:latin typeface="KalamehFaNum" pitchFamily="2" charset="-78"/>
                        <a:cs typeface="KalamehFaNum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 dirty="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✔️</a:t>
                      </a:r>
                      <a:endParaRPr lang="en-US" sz="1200" dirty="0">
                        <a:ln>
                          <a:solidFill>
                            <a:sysClr val="windowText" lastClr="000000"/>
                          </a:solidFill>
                        </a:ln>
                        <a:effectLst/>
                        <a:latin typeface="KalamehFaNum" pitchFamily="2" charset="-78"/>
                        <a:cs typeface="KalamehFaNum" pitchFamily="2" charset="-78"/>
                      </a:endParaRP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4456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fa-IR" sz="1200" b="1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قیمت مناسب</a:t>
                      </a:r>
                      <a:endParaRPr lang="fa-IR" sz="1200">
                        <a:latin typeface="KalamehFaNum" pitchFamily="2" charset="-78"/>
                        <a:cs typeface="KalamehFaNum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✔️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✔️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✔️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 dirty="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✔️</a:t>
                      </a:r>
                      <a:endParaRPr lang="en-US" sz="1200" dirty="0">
                        <a:ln>
                          <a:solidFill>
                            <a:sysClr val="windowText" lastClr="000000"/>
                          </a:solidFill>
                        </a:ln>
                        <a:effectLst/>
                        <a:latin typeface="KalamehFaNum" pitchFamily="2" charset="-78"/>
                        <a:cs typeface="KalamehFaNum" pitchFamily="2" charset="-78"/>
                      </a:endParaRP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3413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fa-IR" sz="1200" b="1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امکان اشتراک ماهانه</a:t>
                      </a:r>
                      <a:endParaRPr lang="fa-IR" sz="1200">
                        <a:latin typeface="KalamehFaNum" pitchFamily="2" charset="-78"/>
                        <a:cs typeface="KalamehFaNum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✔️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✔️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✔️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 dirty="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✔️</a:t>
                      </a:r>
                      <a:endParaRPr lang="en-US" sz="1200" dirty="0">
                        <a:ln>
                          <a:solidFill>
                            <a:sysClr val="windowText" lastClr="000000"/>
                          </a:solidFill>
                        </a:ln>
                        <a:effectLst/>
                        <a:latin typeface="KalamehFaNum" pitchFamily="2" charset="-78"/>
                        <a:cs typeface="KalamehFaNum" pitchFamily="2" charset="-78"/>
                      </a:endParaRP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2769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fa-IR" sz="1200" b="1" dirty="0">
                          <a:latin typeface="KalamehFaNum" pitchFamily="2" charset="-78"/>
                          <a:cs typeface="KalamehFaNum" pitchFamily="2" charset="-78"/>
                        </a:rPr>
                        <a:t>برگزاری مسابقات و همایش های مختلف</a:t>
                      </a:r>
                      <a:endParaRPr lang="en-US" sz="1200" b="1" dirty="0">
                        <a:latin typeface="KalamehFaNum" pitchFamily="2" charset="-78"/>
                        <a:cs typeface="KalamehFaNum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 dirty="0"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✔️</a:t>
                      </a:r>
                      <a:endParaRPr lang="fa-IR" sz="1200" dirty="0">
                        <a:effectLst/>
                        <a:latin typeface="KalamehFaNum" pitchFamily="2" charset="-78"/>
                        <a:cs typeface="KalamehFaNum" pitchFamily="2" charset="-78"/>
                      </a:endParaRP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609305"/>
                  </a:ext>
                </a:extLst>
              </a:tr>
            </a:tbl>
          </a:graphicData>
        </a:graphic>
      </p:graphicFrame>
      <p:sp>
        <p:nvSpPr>
          <p:cNvPr id="18" name="Oval 17">
            <a:extLst>
              <a:ext uri="{FF2B5EF4-FFF2-40B4-BE49-F238E27FC236}">
                <a16:creationId xmlns:a16="http://schemas.microsoft.com/office/drawing/2014/main" id="{59EAB1CB-B275-E0A8-0C21-0006EB3BC4B7}"/>
              </a:ext>
            </a:extLst>
          </p:cNvPr>
          <p:cNvSpPr/>
          <p:nvPr/>
        </p:nvSpPr>
        <p:spPr>
          <a:xfrm>
            <a:off x="10697105" y="1281574"/>
            <a:ext cx="1443642" cy="1443642"/>
          </a:xfrm>
          <a:prstGeom prst="ellipse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solidFill>
              <a:srgbClr val="12AD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4224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0AA79-4B1C-A7FD-6AEB-D3044A5C2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b="1" dirty="0">
                <a:latin typeface="Sahel" panose="020B0603030804020204" pitchFamily="34" charset="-78"/>
                <a:cs typeface="Sahel" panose="020B0603030804020204" pitchFamily="34" charset="-78"/>
              </a:rPr>
              <a:t>مزیت رقابتی</a:t>
            </a:r>
            <a:endParaRPr lang="en-US" b="1" dirty="0">
              <a:latin typeface="Sahel" panose="020B0603030804020204" pitchFamily="34" charset="-78"/>
              <a:cs typeface="Sahel" panose="020B0603030804020204" pitchFamily="34" charset="-78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7F3732-7246-1C88-14C0-357A75DD9C21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2399620" y="2456588"/>
            <a:ext cx="8399541" cy="4098517"/>
          </a:xfrm>
        </p:spPr>
        <p:txBody>
          <a:bodyPr/>
          <a:lstStyle/>
          <a:p>
            <a:pPr marL="285750" marR="0" lvl="0" indent="-285750" algn="r" defTabSz="914400" rtl="1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ar-SA" altLang="en-US" sz="1800" b="0" i="0" u="none" strike="noStrike" cap="none" normalizeH="0" baseline="0" dirty="0">
                <a:ln>
                  <a:noFill/>
                </a:ln>
                <a:effectLst/>
                <a:latin typeface="KalamehFaNum" pitchFamily="2" charset="-78"/>
                <a:cs typeface="KalamehFaNum" pitchFamily="2" charset="-78"/>
              </a:rPr>
              <a:t>سیستم هوشمند پیشنهاد پادکست‌ها و کتاب‌ها بر اساس علایق کاربر</a:t>
            </a:r>
          </a:p>
          <a:p>
            <a:pPr marL="285750" marR="0" lvl="0" indent="-285750" algn="r" defTabSz="914400" rtl="1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ar-SA" altLang="en-US" sz="1800" b="0" i="0" u="none" strike="noStrike" cap="none" normalizeH="0" baseline="0" dirty="0">
                <a:ln>
                  <a:noFill/>
                </a:ln>
                <a:effectLst/>
                <a:latin typeface="KalamehFaNum" pitchFamily="2" charset="-78"/>
                <a:cs typeface="KalamehFaNum" pitchFamily="2" charset="-78"/>
              </a:rPr>
              <a:t>خوانش کتاب‌های آپلود شده توسط کاربرا</a:t>
            </a:r>
            <a:r>
              <a:rPr kumimoji="0" lang="fa-IR" altLang="en-US" sz="1800" b="0" i="0" u="none" strike="noStrike" cap="none" normalizeH="0" baseline="0" dirty="0">
                <a:ln>
                  <a:noFill/>
                </a:ln>
                <a:effectLst/>
                <a:latin typeface="KalamehFaNum" pitchFamily="2" charset="-78"/>
                <a:cs typeface="KalamehFaNum" pitchFamily="2" charset="-78"/>
              </a:rPr>
              <a:t>ن با صدای پیشنهادی کاربر</a:t>
            </a:r>
          </a:p>
          <a:p>
            <a:pPr marL="285750" marR="0" lvl="0" indent="-285750" algn="r" defTabSz="914400" rtl="1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fa-IR" altLang="en-US" sz="1800" b="0" i="0" u="none" strike="noStrike" cap="none" normalizeH="0" baseline="0" dirty="0">
                <a:ln>
                  <a:noFill/>
                </a:ln>
                <a:effectLst/>
                <a:latin typeface="KalamehFaNum" pitchFamily="2" charset="-78"/>
                <a:cs typeface="KalamehFaNum" pitchFamily="2" charset="-78"/>
              </a:rPr>
              <a:t>ایجاد بستری برای تولید محتوا و مشارکت کاربران به صورت صوتی و محتوایی</a:t>
            </a:r>
          </a:p>
          <a:p>
            <a:pPr marL="285750" marR="0" lvl="0" indent="-285750" algn="r" defTabSz="914400" rtl="1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fa-IR" altLang="en-US" sz="1800" dirty="0">
                <a:latin typeface="KalamehFaNum" pitchFamily="2" charset="-78"/>
                <a:cs typeface="KalamehFaNum" pitchFamily="2" charset="-78"/>
              </a:rPr>
              <a:t>ایجاد بستری برای شکوفایی استعداد ها </a:t>
            </a:r>
          </a:p>
          <a:p>
            <a:pPr marL="285750" marR="0" lvl="0" indent="-285750" algn="r" defTabSz="914400" rtl="1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fa-IR" altLang="en-US" sz="1800" dirty="0">
                <a:latin typeface="KalamehFaNum" pitchFamily="2" charset="-78"/>
                <a:cs typeface="KalamehFaNum" pitchFamily="2" charset="-78"/>
              </a:rPr>
              <a:t>تولید محتوا با گویش ها و برای قومیت های مختلف</a:t>
            </a:r>
          </a:p>
          <a:p>
            <a:pPr marL="285750" marR="0" lvl="0" indent="-285750" algn="r" defTabSz="914400" rtl="1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fa-IR" altLang="en-US" dirty="0">
                <a:latin typeface="KalamehFaNum" pitchFamily="2" charset="-78"/>
                <a:cs typeface="KalamehFaNum" pitchFamily="2" charset="-78"/>
              </a:rPr>
              <a:t>امکان استفاده برای گروه های کم توان</a:t>
            </a:r>
            <a:endParaRPr lang="fa-IR" altLang="en-US" sz="1800" dirty="0">
              <a:latin typeface="KalamehFaNum" pitchFamily="2" charset="-78"/>
              <a:cs typeface="KalamehFaNum" pitchFamily="2" charset="-78"/>
            </a:endParaRPr>
          </a:p>
          <a:p>
            <a:pPr marL="285750" marR="0" lvl="0" indent="-285750" algn="r" defTabSz="914400" rtl="1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fa-IR" altLang="en-US" dirty="0">
                <a:latin typeface="KalamehFaNum" pitchFamily="2" charset="-78"/>
                <a:cs typeface="KalamehFaNum" pitchFamily="2" charset="-78"/>
              </a:rPr>
              <a:t>ارائه استراتژی مطالعاتی طبق علایق افراد</a:t>
            </a:r>
          </a:p>
          <a:p>
            <a:pPr marL="285750" marR="0" lvl="0" indent="-285750" algn="r" defTabSz="914400" rtl="1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fa-IR" altLang="en-US" dirty="0">
                <a:latin typeface="KalamehFaNum" pitchFamily="2" charset="-78"/>
                <a:cs typeface="KalamehFaNum" pitchFamily="2" charset="-78"/>
              </a:rPr>
              <a:t>همکاری با موسسات آموزشی و دانشگاه ها</a:t>
            </a:r>
          </a:p>
          <a:p>
            <a:pPr marL="285750" marR="0" lvl="0" indent="-285750" algn="r" defTabSz="914400" rtl="1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ar-SA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KalamehFaNum" pitchFamily="2" charset="-78"/>
                <a:cs typeface="KalamehFaNum" pitchFamily="2" charset="-78"/>
              </a:rPr>
              <a:t>چت‌بات معرفی کتاب و پاسخ‌دهی به سوالات درباره کتاب‌ها</a:t>
            </a:r>
            <a:r>
              <a:rPr lang="fa-IR" altLang="en-US" sz="18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KalamehFaNum" pitchFamily="2" charset="-78"/>
                <a:cs typeface="KalamehFaNum" pitchFamily="2" charset="-78"/>
              </a:rPr>
              <a:t>ی صوت</a:t>
            </a:r>
            <a:endParaRPr kumimoji="0" lang="ar-SA" altLang="en-US" sz="1800" b="1" i="0" u="none" strike="noStrike" cap="none" normalizeH="0" baseline="0" dirty="0">
              <a:ln>
                <a:noFill/>
              </a:ln>
              <a:solidFill>
                <a:schemeClr val="accent1">
                  <a:lumMod val="40000"/>
                  <a:lumOff val="60000"/>
                </a:schemeClr>
              </a:solidFill>
              <a:effectLst/>
              <a:latin typeface="KalamehFaNum" pitchFamily="2" charset="-78"/>
              <a:cs typeface="KalamehFaNum" pitchFamily="2" charset="-78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939FFB-74E8-ACDB-C2A6-4165F9BC9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68250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 blue and purple spirals">
            <a:extLst>
              <a:ext uri="{FF2B5EF4-FFF2-40B4-BE49-F238E27FC236}">
                <a16:creationId xmlns:a16="http://schemas.microsoft.com/office/drawing/2014/main" id="{E1DBD4C7-D952-4426-40FD-8799F80F821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31" b="31"/>
          <a:stretch/>
        </p:blipFill>
        <p:spPr>
          <a:xfrm>
            <a:off x="6497638" y="336550"/>
            <a:ext cx="5322887" cy="6184900"/>
          </a:xfr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8CBC780-72A1-03A7-7F5B-58E0DF58922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8729" t="25675" r="9199" b="11557"/>
          <a:stretch/>
        </p:blipFill>
        <p:spPr>
          <a:xfrm flipH="1">
            <a:off x="0" y="-76754"/>
            <a:ext cx="12192000" cy="6934754"/>
          </a:xfrm>
          <a:prstGeom prst="rect">
            <a:avLst/>
          </a:prstGeom>
        </p:spPr>
      </p:pic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CCC42558-E1BB-7653-211A-C41CF8CB8D82}"/>
              </a:ext>
            </a:extLst>
          </p:cNvPr>
          <p:cNvSpPr txBox="1">
            <a:spLocks/>
          </p:cNvSpPr>
          <p:nvPr/>
        </p:nvSpPr>
        <p:spPr>
          <a:xfrm>
            <a:off x="6715230" y="1520110"/>
            <a:ext cx="5397943" cy="4733896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accent3"/>
                </a:solidFill>
                <a:latin typeface="+mj-lt"/>
                <a:ea typeface="+mn-ea"/>
                <a:cs typeface="Biome" panose="020B0503030204020804" pitchFamily="34" charset="0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r" rtl="1">
              <a:lnSpc>
                <a:spcPct val="150000"/>
              </a:lnSpc>
              <a:spcBef>
                <a:spcPts val="600"/>
              </a:spcBef>
            </a:pPr>
            <a:r>
              <a:rPr lang="fa-IR" sz="14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zarMehr-DS1-FD Black" pitchFamily="2" charset="-78"/>
                <a:cs typeface="AzarMehr-DS1-FD Black" pitchFamily="2" charset="-78"/>
              </a:rPr>
              <a:t>ابزار هوشمند آشنایی با کتاب‌های مختلف</a:t>
            </a:r>
          </a:p>
          <a:p>
            <a:pPr lvl="1" algn="r" rtl="1">
              <a:lnSpc>
                <a:spcPct val="150000"/>
              </a:lnSpc>
              <a:spcBef>
                <a:spcPts val="600"/>
              </a:spcBef>
            </a:pPr>
            <a:r>
              <a:rPr lang="fa-IR" sz="14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zarMehr-DS1-FD Black" pitchFamily="2" charset="-78"/>
                <a:cs typeface="AzarMehr-DS1-FD Black" pitchFamily="2" charset="-78"/>
              </a:rPr>
              <a:t>پیشنهاد کتاب بر اساس تجارب کاربران</a:t>
            </a:r>
          </a:p>
          <a:p>
            <a:pPr lvl="1" algn="r" rtl="1">
              <a:lnSpc>
                <a:spcPct val="150000"/>
              </a:lnSpc>
              <a:spcBef>
                <a:spcPts val="600"/>
              </a:spcBef>
            </a:pPr>
            <a:r>
              <a:rPr lang="fa-IR" sz="14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zarMehr-DS1-FD Black" pitchFamily="2" charset="-78"/>
                <a:cs typeface="AzarMehr-DS1-FD Black" pitchFamily="2" charset="-78"/>
              </a:rPr>
              <a:t>ارائه خلاصه کتاب</a:t>
            </a:r>
          </a:p>
          <a:p>
            <a:pPr lvl="1" algn="r" rtl="1">
              <a:lnSpc>
                <a:spcPct val="150000"/>
              </a:lnSpc>
              <a:spcBef>
                <a:spcPts val="600"/>
              </a:spcBef>
            </a:pPr>
            <a:r>
              <a:rPr lang="fa-IR" sz="14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zarMehr-DS1-FD Black" pitchFamily="2" charset="-78"/>
                <a:cs typeface="AzarMehr-DS1-FD Black" pitchFamily="2" charset="-78"/>
              </a:rPr>
              <a:t>معرفی موضوعات اصلی هر کتاب</a:t>
            </a:r>
          </a:p>
          <a:p>
            <a:pPr lvl="1" algn="r" rtl="1">
              <a:lnSpc>
                <a:spcPct val="150000"/>
              </a:lnSpc>
              <a:spcBef>
                <a:spcPts val="600"/>
              </a:spcBef>
            </a:pPr>
            <a:r>
              <a:rPr lang="fa-IR" sz="14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zarMehr-DS1-FD Black" pitchFamily="2" charset="-78"/>
                <a:cs typeface="AzarMehr-DS1-FD Black" pitchFamily="2" charset="-78"/>
              </a:rPr>
              <a:t>تحلیل محتوای کتاب‌ها</a:t>
            </a:r>
          </a:p>
          <a:p>
            <a:pPr lvl="1" algn="r" rtl="1">
              <a:lnSpc>
                <a:spcPct val="150000"/>
              </a:lnSpc>
              <a:spcBef>
                <a:spcPts val="600"/>
              </a:spcBef>
            </a:pPr>
            <a:r>
              <a:rPr lang="fa-IR" sz="14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zarMehr-DS1-FD Black" pitchFamily="2" charset="-78"/>
                <a:cs typeface="AzarMehr-DS1-FD Black" pitchFamily="2" charset="-78"/>
              </a:rPr>
              <a:t>امکان پرسش و پاسخ درباره محتوای کتاب</a:t>
            </a:r>
          </a:p>
          <a:p>
            <a:pPr lvl="1" algn="r" rtl="1">
              <a:lnSpc>
                <a:spcPct val="150000"/>
              </a:lnSpc>
              <a:spcBef>
                <a:spcPts val="600"/>
              </a:spcBef>
            </a:pPr>
            <a:r>
              <a:rPr lang="fa-IR" sz="14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zarMehr-DS1-FD Black" pitchFamily="2" charset="-78"/>
                <a:cs typeface="AzarMehr-DS1-FD Black" pitchFamily="2" charset="-78"/>
              </a:rPr>
              <a:t>بحث و گفتگو پیرامون موضوعات کتاب‌ها</a:t>
            </a:r>
          </a:p>
          <a:p>
            <a:pPr lvl="1" algn="r" rtl="1">
              <a:lnSpc>
                <a:spcPct val="150000"/>
              </a:lnSpc>
              <a:spcBef>
                <a:spcPts val="600"/>
              </a:spcBef>
            </a:pPr>
            <a:r>
              <a:rPr lang="fa-IR" sz="14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zarMehr-DS1-FD Black" pitchFamily="2" charset="-78"/>
                <a:cs typeface="AzarMehr-DS1-FD Black" pitchFamily="2" charset="-78"/>
              </a:rPr>
              <a:t>قابلیت ایجاد لیست کتاب‌های مورد علاقه</a:t>
            </a:r>
          </a:p>
          <a:p>
            <a:pPr lvl="1" algn="r" rtl="1">
              <a:lnSpc>
                <a:spcPct val="150000"/>
              </a:lnSpc>
              <a:spcBef>
                <a:spcPts val="600"/>
              </a:spcBef>
            </a:pPr>
            <a:r>
              <a:rPr lang="fa-IR" sz="14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zarMehr-DS1-FD Black" pitchFamily="2" charset="-78"/>
                <a:cs typeface="AzarMehr-DS1-FD Black" pitchFamily="2" charset="-78"/>
              </a:rPr>
              <a:t>تعامل صوتی با کاربر</a:t>
            </a:r>
          </a:p>
          <a:p>
            <a:pPr lvl="1" algn="r" rtl="1">
              <a:lnSpc>
                <a:spcPct val="150000"/>
              </a:lnSpc>
              <a:spcBef>
                <a:spcPts val="600"/>
              </a:spcBef>
            </a:pPr>
            <a:r>
              <a:rPr lang="fa-IR" sz="14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zarMehr-DS1-FD Black" pitchFamily="2" charset="-78"/>
                <a:cs typeface="AzarMehr-DS1-FD Black" pitchFamily="2" charset="-78"/>
              </a:rPr>
              <a:t>شخصی‌سازی تجربه کاربری</a:t>
            </a:r>
          </a:p>
          <a:p>
            <a:pPr lvl="1" algn="r" rtl="1">
              <a:lnSpc>
                <a:spcPct val="150000"/>
              </a:lnSpc>
              <a:spcBef>
                <a:spcPts val="600"/>
              </a:spcBef>
            </a:pPr>
            <a:r>
              <a:rPr lang="fa-IR" sz="14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zarMehr-DS1-FD Black" pitchFamily="2" charset="-78"/>
                <a:cs typeface="AzarMehr-DS1-FD Black" pitchFamily="2" charset="-78"/>
              </a:rPr>
              <a:t>افزایش علاقه به کتاب‌خوانی</a:t>
            </a:r>
          </a:p>
          <a:p>
            <a:pPr lvl="1" algn="r" rtl="1">
              <a:lnSpc>
                <a:spcPct val="150000"/>
              </a:lnSpc>
              <a:spcBef>
                <a:spcPts val="600"/>
              </a:spcBef>
            </a:pPr>
            <a:r>
              <a:rPr lang="fa-IR" sz="14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zarMehr-DS1-FD Black" pitchFamily="2" charset="-78"/>
                <a:cs typeface="AzarMehr-DS1-FD Black" pitchFamily="2" charset="-78"/>
              </a:rPr>
              <a:t>دسترسی سریع به اطلاعات کتاب‌ها</a:t>
            </a:r>
          </a:p>
        </p:txBody>
      </p:sp>
      <p:sp>
        <p:nvSpPr>
          <p:cNvPr id="21" name="Title 6">
            <a:extLst>
              <a:ext uri="{FF2B5EF4-FFF2-40B4-BE49-F238E27FC236}">
                <a16:creationId xmlns:a16="http://schemas.microsoft.com/office/drawing/2014/main" id="{10B2FE49-C63D-82E4-79FD-32A3C76CF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7638" y="543933"/>
            <a:ext cx="5184122" cy="708733"/>
          </a:xfrm>
        </p:spPr>
        <p:txBody>
          <a:bodyPr/>
          <a:lstStyle/>
          <a:p>
            <a:pPr algn="r" rtl="1"/>
            <a:r>
              <a:rPr lang="fa-IR" sz="3200" b="1" spc="0" dirty="0">
                <a:solidFill>
                  <a:schemeClr val="accent1">
                    <a:lumMod val="60000"/>
                    <a:lumOff val="40000"/>
                  </a:schemeClr>
                </a:solidFill>
                <a:latin typeface="Sahel" panose="020B0603030804020204" pitchFamily="34" charset="-78"/>
                <a:cs typeface="Sahel" panose="020B0603030804020204" pitchFamily="34" charset="-78"/>
              </a:rPr>
              <a:t>ایده چت‌بات «کتاب‌یار»</a:t>
            </a:r>
            <a:endParaRPr lang="en-US" sz="3200" b="1" spc="0" dirty="0">
              <a:solidFill>
                <a:schemeClr val="accent1">
                  <a:lumMod val="60000"/>
                  <a:lumOff val="40000"/>
                </a:schemeClr>
              </a:solidFill>
              <a:latin typeface="Sahel" panose="020B0603030804020204" pitchFamily="34" charset="-78"/>
              <a:cs typeface="Sahel" panose="020B0603030804020204" pitchFamily="34" charset="-78"/>
            </a:endParaRPr>
          </a:p>
        </p:txBody>
      </p:sp>
      <p:graphicFrame>
        <p:nvGraphicFramePr>
          <p:cNvPr id="2" name="Table Placeholder 2">
            <a:extLst>
              <a:ext uri="{FF2B5EF4-FFF2-40B4-BE49-F238E27FC236}">
                <a16:creationId xmlns:a16="http://schemas.microsoft.com/office/drawing/2014/main" id="{B3CBAEA6-9AF5-A113-1328-1FE0333A5DD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61243407"/>
              </p:ext>
            </p:extLst>
          </p:nvPr>
        </p:nvGraphicFramePr>
        <p:xfrm>
          <a:off x="207075" y="251013"/>
          <a:ext cx="5673772" cy="6270439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673772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</a:tblGrid>
              <a:tr h="86186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9pPr>
                    </a:lstStyle>
                    <a:p>
                      <a:pPr lvl="1" algn="r" rtl="1"/>
                      <a:r>
                        <a:rPr lang="fa-IR" sz="2400" b="1" dirty="0">
                          <a:latin typeface="KalamehFaNum" pitchFamily="2" charset="-78"/>
                          <a:cs typeface="KalamehFaNum" pitchFamily="2" charset="-78"/>
                        </a:rPr>
                        <a:t>مهمترین ویژگی های چت بات کتاب یار</a:t>
                      </a:r>
                      <a:endParaRPr lang="en-US" sz="2400" b="1" dirty="0">
                        <a:latin typeface="KalamehFaNum" pitchFamily="2" charset="-78"/>
                        <a:cs typeface="KalamehFaNum" pitchFamily="2" charset="-78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97903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lvl="1" algn="r" rtl="1"/>
                      <a:r>
                        <a:rPr lang="fa-IR" b="0" dirty="0">
                          <a:latin typeface="KalamehFaNum" pitchFamily="2" charset="-78"/>
                          <a:cs typeface="KalamehFaNum" pitchFamily="2" charset="-78"/>
                        </a:rPr>
                        <a:t>صحبت با چت‌بات برای آشنایی با کتاب های مختلف</a:t>
                      </a:r>
                      <a:endParaRPr lang="en-US" b="0" dirty="0">
                        <a:latin typeface="KalamehFaNum" pitchFamily="2" charset="-78"/>
                        <a:cs typeface="KalamehFaNum" pitchFamily="2" charset="-78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109398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lvl="1" algn="r" rtl="1"/>
                      <a:r>
                        <a:rPr lang="fa-IR" b="0" dirty="0">
                          <a:latin typeface="KalamehFaNum" pitchFamily="2" charset="-78"/>
                          <a:cs typeface="KalamehFaNum" pitchFamily="2" charset="-78"/>
                        </a:rPr>
                        <a:t>دریافت خلاصه از بخشی از کتاب</a:t>
                      </a:r>
                      <a:endParaRPr lang="en-US" b="0" dirty="0">
                        <a:latin typeface="KalamehFaNum" pitchFamily="2" charset="-78"/>
                        <a:cs typeface="KalamehFaNum" pitchFamily="2" charset="-78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109398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lvl="1" algn="r" rtl="1"/>
                      <a:r>
                        <a:rPr lang="fa-IR" b="0" dirty="0">
                          <a:latin typeface="KalamehFaNum" pitchFamily="2" charset="-78"/>
                          <a:cs typeface="KalamehFaNum" pitchFamily="2" charset="-78"/>
                        </a:rPr>
                        <a:t>بحث کردن درباره موضوعات کتاب</a:t>
                      </a:r>
                      <a:endParaRPr lang="en-US" b="0" dirty="0">
                        <a:latin typeface="KalamehFaNum" pitchFamily="2" charset="-78"/>
                        <a:cs typeface="KalamehFaNum" pitchFamily="2" charset="-78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109398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lvl="1" algn="r" rtl="1"/>
                      <a:r>
                        <a:rPr lang="fa-IR" b="0" dirty="0">
                          <a:latin typeface="KalamehFaNum" pitchFamily="2" charset="-78"/>
                          <a:cs typeface="KalamehFaNum" pitchFamily="2" charset="-78"/>
                        </a:rPr>
                        <a:t>پرسش سوالاتی درباره محتوای کتاب</a:t>
                      </a:r>
                      <a:endParaRPr lang="en-US" b="0" dirty="0">
                        <a:latin typeface="KalamehFaNum" pitchFamily="2" charset="-78"/>
                        <a:cs typeface="KalamehFaNum" pitchFamily="2" charset="-78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114759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lvl="1" algn="r" rtl="1"/>
                      <a:r>
                        <a:rPr lang="fa-IR" b="0" dirty="0">
                          <a:latin typeface="KalamehFaNum" pitchFamily="2" charset="-78"/>
                          <a:cs typeface="KalamehFaNum" pitchFamily="2" charset="-78"/>
                        </a:rPr>
                        <a:t>دریافت لیست موضوعات و محتواهای کتاب</a:t>
                      </a:r>
                      <a:endParaRPr lang="en-US" b="0" dirty="0">
                        <a:latin typeface="KalamehFaNum" pitchFamily="2" charset="-78"/>
                        <a:cs typeface="KalamehFaNum" pitchFamily="2" charset="-78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81449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0F93F-DA95-C254-C1E5-62ECC2220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b="1" dirty="0">
                <a:latin typeface="Sahel" panose="020B0603030804020204" pitchFamily="34" charset="-78"/>
                <a:cs typeface="Sahel" panose="020B0603030804020204" pitchFamily="34" charset="-78"/>
              </a:rPr>
              <a:t>استراتژی بازاریابی</a:t>
            </a:r>
            <a:br>
              <a:rPr lang="fa-IR" b="1" dirty="0">
                <a:latin typeface="Sahel" panose="020B0603030804020204" pitchFamily="34" charset="-78"/>
                <a:cs typeface="Sahel" panose="020B0603030804020204" pitchFamily="34" charset="-78"/>
              </a:rPr>
            </a:br>
            <a:br>
              <a:rPr lang="fa-IR" sz="1800" b="1" dirty="0">
                <a:latin typeface="Sahel" panose="020B0603030804020204" pitchFamily="34" charset="-78"/>
                <a:cs typeface="Sahel" panose="020B0603030804020204" pitchFamily="34" charset="-78"/>
              </a:rPr>
            </a:br>
            <a:r>
              <a:rPr lang="fa-IR" sz="2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Sahel" panose="020B0603030804020204" pitchFamily="34" charset="-78"/>
                <a:cs typeface="Sahel" panose="020B0603030804020204" pitchFamily="34" charset="-78"/>
              </a:rPr>
              <a:t>«استراتژی گام اول – یک تا دو ماه ابتدایی»</a:t>
            </a:r>
            <a:endParaRPr lang="en-US" b="1" dirty="0">
              <a:solidFill>
                <a:schemeClr val="accent1">
                  <a:lumMod val="40000"/>
                  <a:lumOff val="60000"/>
                </a:schemeClr>
              </a:solidFill>
              <a:latin typeface="Sahel" panose="020B0603030804020204" pitchFamily="34" charset="-78"/>
              <a:cs typeface="Sahel" panose="020B0603030804020204" pitchFamily="34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F1127-27E9-94F8-0B9E-49E7B126EF1B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2861098" y="2024782"/>
            <a:ext cx="8516815" cy="4520241"/>
          </a:xfrm>
        </p:spPr>
        <p:txBody>
          <a:bodyPr/>
          <a:lstStyle/>
          <a:p>
            <a:pPr algn="r" rtl="1"/>
            <a:r>
              <a:rPr lang="en-US" sz="1600" b="1" dirty="0">
                <a:effectLst/>
              </a:rPr>
              <a:t>Direct Marketing</a:t>
            </a:r>
            <a:r>
              <a:rPr lang="fa-IR" sz="1600" b="1" dirty="0">
                <a:effectLst/>
              </a:rPr>
              <a:t>: </a:t>
            </a:r>
            <a:r>
              <a:rPr lang="fa-IR" sz="1600" b="1" dirty="0">
                <a:effectLst/>
                <a:latin typeface="KalamehFaNum" pitchFamily="2" charset="-78"/>
                <a:cs typeface="KalamehFaNum" pitchFamily="2" charset="-78"/>
              </a:rPr>
              <a:t>بازاریابی با </a:t>
            </a:r>
            <a:r>
              <a:rPr lang="fa-IR" sz="1600" b="1" dirty="0">
                <a:latin typeface="KalamehFaNum" pitchFamily="2" charset="-78"/>
                <a:cs typeface="KalamehFaNum" pitchFamily="2" charset="-78"/>
              </a:rPr>
              <a:t>اطلاعیه و نوتیفیکیشن</a:t>
            </a:r>
          </a:p>
          <a:p>
            <a:pPr marL="0" indent="0" algn="r" rtl="1">
              <a:buNone/>
            </a:pPr>
            <a:r>
              <a:rPr lang="fa-IR" sz="1600" dirty="0">
                <a:latin typeface="KalamehFaNum" pitchFamily="2" charset="-78"/>
                <a:cs typeface="KalamehFaNum" pitchFamily="2" charset="-78"/>
              </a:rPr>
              <a:t>	پیگیری و استفاده از نوتیف</a:t>
            </a:r>
            <a:r>
              <a:rPr lang="en-US" sz="1600" dirty="0">
                <a:latin typeface="KalamehFaNum" pitchFamily="2" charset="-78"/>
                <a:cs typeface="KalamehFaNum" pitchFamily="2" charset="-78"/>
              </a:rPr>
              <a:t> </a:t>
            </a:r>
            <a:r>
              <a:rPr lang="fa-IR" sz="1600" dirty="0">
                <a:latin typeface="KalamehFaNum" pitchFamily="2" charset="-78"/>
                <a:cs typeface="KalamehFaNum" pitchFamily="2" charset="-78"/>
              </a:rPr>
              <a:t>با استفاده از ارسال ایمیل اهدای ضمانت به مشتری کتابخوان</a:t>
            </a:r>
          </a:p>
          <a:p>
            <a:pPr algn="r" rtl="1"/>
            <a:r>
              <a:rPr lang="en-US" sz="1600" b="1" dirty="0">
                <a:effectLst/>
              </a:rPr>
              <a:t>Loyalty Marketing</a:t>
            </a:r>
            <a:r>
              <a:rPr lang="fa-IR" sz="1600" b="1" dirty="0">
                <a:effectLst/>
              </a:rPr>
              <a:t>: </a:t>
            </a:r>
            <a:r>
              <a:rPr lang="fa-IR" sz="1600" b="1" dirty="0">
                <a:latin typeface="KalamehFaNum" pitchFamily="2" charset="-78"/>
                <a:cs typeface="KalamehFaNum" pitchFamily="2" charset="-78"/>
              </a:rPr>
              <a:t>ایجاد یک قبیله از طرفداران دو آتیشه</a:t>
            </a:r>
          </a:p>
          <a:p>
            <a:pPr marL="0" indent="0" algn="r" rtl="1">
              <a:buNone/>
            </a:pPr>
            <a:r>
              <a:rPr lang="fa-IR" sz="1400" dirty="0">
                <a:latin typeface="KalamehFaNum" pitchFamily="2" charset="-78"/>
                <a:cs typeface="KalamehFaNum" pitchFamily="2" charset="-78"/>
              </a:rPr>
              <a:t>	مثلا با اهدای بن تخفیف 50 هزار تومانی به ازای خرید هر کتاب</a:t>
            </a:r>
          </a:p>
          <a:p>
            <a:pPr algn="r" rtl="1"/>
            <a:r>
              <a:rPr lang="en-US" sz="1600" b="1" dirty="0">
                <a:effectLst/>
              </a:rPr>
              <a:t>Relationship Marketing</a:t>
            </a:r>
            <a:r>
              <a:rPr lang="fa-IR" sz="1600" b="1" dirty="0">
                <a:effectLst/>
              </a:rPr>
              <a:t>: </a:t>
            </a:r>
            <a:r>
              <a:rPr lang="fa-IR" sz="1600" b="1" dirty="0">
                <a:latin typeface="KalamehFaNum" pitchFamily="2" charset="-78"/>
                <a:cs typeface="KalamehFaNum" pitchFamily="2" charset="-78"/>
              </a:rPr>
              <a:t>فرایند عضو گیری و سرویس عضویت</a:t>
            </a:r>
          </a:p>
          <a:p>
            <a:pPr marL="0" indent="0" algn="r" rtl="1">
              <a:buNone/>
            </a:pPr>
            <a:r>
              <a:rPr lang="fa-IR" sz="1400" dirty="0">
                <a:latin typeface="KalamehFaNum" pitchFamily="2" charset="-78"/>
                <a:cs typeface="KalamehFaNum" pitchFamily="2" charset="-78"/>
              </a:rPr>
              <a:t>	قابلیت تمدید کتاب با استفاده از اعتبار درون برنامه ای</a:t>
            </a:r>
          </a:p>
          <a:p>
            <a:pPr algn="r" rtl="1"/>
            <a:r>
              <a:rPr lang="en-US" sz="1600" b="1" dirty="0">
                <a:effectLst/>
              </a:rPr>
              <a:t>Personalized Marketing</a:t>
            </a:r>
            <a:r>
              <a:rPr lang="fa-IR" sz="1600" b="1" dirty="0">
                <a:effectLst/>
              </a:rPr>
              <a:t>: </a:t>
            </a:r>
            <a:r>
              <a:rPr lang="fa-IR" sz="1600" b="1" dirty="0">
                <a:latin typeface="KalamehFaNum" pitchFamily="2" charset="-78"/>
                <a:cs typeface="KalamehFaNum" pitchFamily="2" charset="-78"/>
              </a:rPr>
              <a:t>ارائه سیستم های ارزیابی از علایق، رشته تحصیلی و شغل کاربر</a:t>
            </a:r>
          </a:p>
          <a:p>
            <a:pPr marL="0" indent="0" algn="r" rtl="1">
              <a:buNone/>
            </a:pPr>
            <a:r>
              <a:rPr lang="fa-IR" sz="1600" dirty="0">
                <a:latin typeface="KalamehFaNum" pitchFamily="2" charset="-78"/>
                <a:cs typeface="KalamehFaNum" pitchFamily="2" charset="-78"/>
              </a:rPr>
              <a:t>	ارائه یک برنامه ریزی و چک لیست متناسب با نیاز های او</a:t>
            </a:r>
          </a:p>
          <a:p>
            <a:pPr algn="r" rtl="1"/>
            <a:r>
              <a:rPr lang="en-US" sz="1600" b="1" dirty="0">
                <a:solidFill>
                  <a:schemeClr val="bg1">
                    <a:lumMod val="95000"/>
                  </a:schemeClr>
                </a:solidFill>
                <a:cs typeface="KalamehFaNum" pitchFamily="2" charset="-78"/>
              </a:rPr>
              <a:t>Personalized Marketing</a:t>
            </a:r>
            <a:r>
              <a:rPr lang="fa-IR" sz="1600" b="1" dirty="0">
                <a:solidFill>
                  <a:schemeClr val="bg1">
                    <a:lumMod val="95000"/>
                  </a:schemeClr>
                </a:solidFill>
                <a:cs typeface="KalamehFaNum" pitchFamily="2" charset="-78"/>
              </a:rPr>
              <a:t>: </a:t>
            </a:r>
            <a:r>
              <a:rPr lang="fa-IR" b="1" dirty="0">
                <a:solidFill>
                  <a:schemeClr val="bg1">
                    <a:lumMod val="95000"/>
                  </a:schemeClr>
                </a:solidFill>
                <a:latin typeface="KalamehFaNum" pitchFamily="2" charset="-78"/>
                <a:cs typeface="KalamehFaNum" pitchFamily="2" charset="-78"/>
              </a:rPr>
              <a:t>آنالیز تیپ شخصیتی کاربر</a:t>
            </a:r>
            <a:r>
              <a:rPr lang="fa-IR" sz="1600" dirty="0">
                <a:solidFill>
                  <a:schemeClr val="bg1">
                    <a:lumMod val="95000"/>
                  </a:schemeClr>
                </a:solidFill>
                <a:latin typeface="KalamehFaNum" pitchFamily="2" charset="-78"/>
                <a:cs typeface="KalamehFaNum" pitchFamily="2" charset="-78"/>
              </a:rPr>
              <a:t> </a:t>
            </a:r>
          </a:p>
          <a:p>
            <a:pPr marL="0" indent="0" algn="r" rtl="1">
              <a:buNone/>
            </a:pPr>
            <a:r>
              <a:rPr lang="fa-IR" sz="1600" dirty="0">
                <a:solidFill>
                  <a:schemeClr val="bg1">
                    <a:lumMod val="95000"/>
                  </a:schemeClr>
                </a:solidFill>
                <a:latin typeface="KalamehFaNum" pitchFamily="2" charset="-78"/>
                <a:cs typeface="KalamehFaNum" pitchFamily="2" charset="-78"/>
              </a:rPr>
              <a:t>	ارائه یک مسیر راه براساس شخصیت رهبر، مدیر و... با استفاده از هوش مصنوعی</a:t>
            </a:r>
            <a:endParaRPr lang="fa-IR" sz="1600" b="1" dirty="0">
              <a:solidFill>
                <a:schemeClr val="bg1">
                  <a:lumMod val="95000"/>
                </a:schemeClr>
              </a:solidFill>
              <a:latin typeface="KalamehFaNum" pitchFamily="2" charset="-78"/>
              <a:cs typeface="KalamehFaNum" pitchFamily="2" charset="-78"/>
            </a:endParaRPr>
          </a:p>
          <a:p>
            <a:pPr marL="0" indent="0" algn="r" rtl="1">
              <a:buNone/>
            </a:pPr>
            <a:endParaRPr lang="fa-IR" sz="1600" dirty="0">
              <a:latin typeface="KalamehFaNum" pitchFamily="2" charset="-78"/>
              <a:cs typeface="KalamehFaNum" pitchFamily="2" charset="-7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F18F6E-EC88-D323-D21B-022CB3713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0511" y="6226198"/>
            <a:ext cx="41366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1103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F1127-27E9-94F8-0B9E-49E7B126EF1B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2816172" y="2224662"/>
            <a:ext cx="8399812" cy="4520241"/>
          </a:xfrm>
        </p:spPr>
        <p:txBody>
          <a:bodyPr/>
          <a:lstStyle/>
          <a:p>
            <a:pPr algn="r" rtl="1"/>
            <a:r>
              <a:rPr lang="en-US" sz="1600" b="1" dirty="0">
                <a:effectLst/>
              </a:rPr>
              <a:t>Trust-Building Marketing</a:t>
            </a:r>
            <a:r>
              <a:rPr lang="fa-IR" sz="1600" b="1" dirty="0">
                <a:effectLst/>
              </a:rPr>
              <a:t>: </a:t>
            </a:r>
            <a:r>
              <a:rPr lang="fa-IR" sz="1600" dirty="0">
                <a:latin typeface="KalamehFaNum" pitchFamily="2" charset="-78"/>
                <a:cs typeface="KalamehFaNum" pitchFamily="2" charset="-78"/>
              </a:rPr>
              <a:t>سیستم</a:t>
            </a:r>
            <a:r>
              <a:rPr lang="en-US" sz="1600" dirty="0">
                <a:latin typeface="KalamehFaNum" pitchFamily="2" charset="-78"/>
                <a:cs typeface="KalamehFaNum" pitchFamily="2" charset="-78"/>
              </a:rPr>
              <a:t> </a:t>
            </a:r>
            <a:r>
              <a:rPr lang="fa-IR" sz="1600" dirty="0">
                <a:latin typeface="KalamehFaNum" pitchFamily="2" charset="-78"/>
                <a:cs typeface="KalamehFaNum" pitchFamily="2" charset="-78"/>
              </a:rPr>
              <a:t>ضمانت بازگشت پول در صورت عدم رضایت</a:t>
            </a:r>
          </a:p>
          <a:p>
            <a:pPr algn="r" rtl="1"/>
            <a:r>
              <a:rPr lang="en-US" sz="1600" b="1" dirty="0">
                <a:effectLst/>
              </a:rPr>
              <a:t>Data-Driven Marketing</a:t>
            </a:r>
            <a:r>
              <a:rPr lang="fa-IR" sz="1600" b="1" dirty="0">
                <a:effectLst/>
              </a:rPr>
              <a:t>: </a:t>
            </a:r>
            <a:r>
              <a:rPr lang="fa-IR" sz="1600" dirty="0">
                <a:latin typeface="KalamehFaNum" pitchFamily="2" charset="-78"/>
                <a:cs typeface="KalamehFaNum" pitchFamily="2" charset="-78"/>
              </a:rPr>
              <a:t>آنالیز ساعت های مفید مطالعه و ارائه یک برنامه زمانی استاندارد با استفاده از هوش مصنوعی</a:t>
            </a:r>
          </a:p>
          <a:p>
            <a:pPr algn="r" rtl="1"/>
            <a:r>
              <a:rPr lang="en-US" sz="1600" b="1" dirty="0">
                <a:effectLst/>
              </a:rPr>
              <a:t>Personalized Marketing</a:t>
            </a:r>
            <a:r>
              <a:rPr lang="fa-IR" sz="1600" b="1" dirty="0">
                <a:effectLst/>
              </a:rPr>
              <a:t>: </a:t>
            </a:r>
            <a:r>
              <a:rPr lang="fa-IR" sz="1600" dirty="0">
                <a:latin typeface="KalamehFaNum" pitchFamily="2" charset="-78"/>
                <a:cs typeface="KalamehFaNum" pitchFamily="2" charset="-78"/>
              </a:rPr>
              <a:t>آنالیز تیپ شخصیتی کاربر و ارائه یک مسیر راه براساس شخصیت رهبر، مدیر و... با استفاده از هوش مصنوعی</a:t>
            </a:r>
          </a:p>
          <a:p>
            <a:pPr algn="r" rtl="1"/>
            <a:r>
              <a:rPr lang="en-US" sz="1600" b="1" dirty="0">
                <a:effectLst/>
              </a:rPr>
              <a:t>Emotional Marketing</a:t>
            </a:r>
            <a:r>
              <a:rPr lang="fa-IR" sz="1600" b="1" dirty="0">
                <a:effectLst/>
              </a:rPr>
              <a:t>: </a:t>
            </a:r>
            <a:r>
              <a:rPr lang="fa-IR" sz="1600" dirty="0">
                <a:latin typeface="KalamehFaNum" pitchFamily="2" charset="-78"/>
                <a:cs typeface="KalamehFaNum" pitchFamily="2" charset="-78"/>
              </a:rPr>
              <a:t>ارائه بسته های شوک و حیرت(مناسب تولد، ازدواج و غیره) از صوت اشخاص مورد نظر کاربر</a:t>
            </a:r>
          </a:p>
          <a:p>
            <a:pPr algn="r" rtl="1"/>
            <a:r>
              <a:rPr lang="en-US" sz="1600" b="1" dirty="0">
                <a:effectLst/>
              </a:rPr>
              <a:t>Social Media Marketing</a:t>
            </a:r>
            <a:r>
              <a:rPr lang="fa-IR" sz="1600" b="1" dirty="0">
                <a:effectLst/>
              </a:rPr>
              <a:t>: </a:t>
            </a:r>
            <a:r>
              <a:rPr lang="fa-IR" sz="1600" dirty="0">
                <a:latin typeface="KalamehFaNum" pitchFamily="2" charset="-78"/>
                <a:cs typeface="KalamehFaNum" pitchFamily="2" charset="-78"/>
              </a:rPr>
              <a:t>راه‌اندازی چالش‌های صوتی در شبکه‌های اجتماعی برای تعامل با مخاطب</a:t>
            </a:r>
          </a:p>
          <a:p>
            <a:pPr algn="r" rtl="1"/>
            <a:r>
              <a:rPr lang="en-US" sz="1600" b="1" dirty="0">
                <a:solidFill>
                  <a:schemeClr val="bg1">
                    <a:lumMod val="95000"/>
                  </a:schemeClr>
                </a:solidFill>
                <a:latin typeface="KalamehFaNum" pitchFamily="2" charset="-78"/>
                <a:cs typeface="KalamehFaNum" pitchFamily="2" charset="-78"/>
              </a:rPr>
              <a:t>Data-Driven Marketing</a:t>
            </a:r>
            <a:r>
              <a:rPr lang="fa-IR" sz="1600" b="1" dirty="0">
                <a:solidFill>
                  <a:schemeClr val="bg1">
                    <a:lumMod val="95000"/>
                  </a:schemeClr>
                </a:solidFill>
                <a:latin typeface="KalamehFaNum" pitchFamily="2" charset="-78"/>
                <a:cs typeface="KalamehFaNum" pitchFamily="2" charset="-78"/>
              </a:rPr>
              <a:t>: </a:t>
            </a:r>
            <a:r>
              <a:rPr lang="fa-IR" sz="1600" dirty="0">
                <a:solidFill>
                  <a:schemeClr val="bg1">
                    <a:lumMod val="95000"/>
                  </a:schemeClr>
                </a:solidFill>
                <a:latin typeface="KalamehFaNum" pitchFamily="2" charset="-78"/>
                <a:cs typeface="KalamehFaNum" pitchFamily="2" charset="-78"/>
              </a:rPr>
              <a:t>آنالیز ساعت های مفید مطالعه و ارائه یک برنامه زمانی استاندارد با استفاده از هوش مصنوعی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F18F6E-EC88-D323-D21B-022CB3713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6097" y="6226198"/>
            <a:ext cx="618073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362129A-676E-1BE0-8642-5C0DA443F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/>
          <a:lstStyle/>
          <a:p>
            <a:pPr algn="r" rtl="1"/>
            <a:r>
              <a:rPr lang="fa-IR" b="1" dirty="0">
                <a:latin typeface="Sahel" panose="020B0603030804020204" pitchFamily="34" charset="-78"/>
                <a:cs typeface="Sahel" panose="020B0603030804020204" pitchFamily="34" charset="-78"/>
              </a:rPr>
              <a:t>استراتژی بازاریابی</a:t>
            </a:r>
            <a:br>
              <a:rPr lang="fa-IR" b="1" dirty="0">
                <a:latin typeface="Sahel" panose="020B0603030804020204" pitchFamily="34" charset="-78"/>
                <a:cs typeface="Sahel" panose="020B0603030804020204" pitchFamily="34" charset="-78"/>
              </a:rPr>
            </a:br>
            <a:br>
              <a:rPr lang="fa-IR" sz="1800" b="1" dirty="0">
                <a:latin typeface="Sahel" panose="020B0603030804020204" pitchFamily="34" charset="-78"/>
                <a:cs typeface="Sahel" panose="020B0603030804020204" pitchFamily="34" charset="-78"/>
              </a:rPr>
            </a:br>
            <a:r>
              <a:rPr lang="fa-IR" sz="2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Sahel" panose="020B0603030804020204" pitchFamily="34" charset="-78"/>
                <a:cs typeface="Sahel" panose="020B0603030804020204" pitchFamily="34" charset="-78"/>
              </a:rPr>
              <a:t>«استراتژی گام دوم – یک تا دو سال ابتدایی»</a:t>
            </a:r>
            <a:endParaRPr lang="en-US" b="1" dirty="0">
              <a:solidFill>
                <a:schemeClr val="accent1">
                  <a:lumMod val="40000"/>
                  <a:lumOff val="60000"/>
                </a:schemeClr>
              </a:solidFill>
              <a:latin typeface="Sahel" panose="020B0603030804020204" pitchFamily="34" charset="-78"/>
              <a:cs typeface="Sahel" panose="020B060303080402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379116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939FFB-74E8-ACDB-C2A6-4165F9BC9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B04F37C-E108-DF3D-92AD-96ADF7580160}"/>
              </a:ext>
            </a:extLst>
          </p:cNvPr>
          <p:cNvSpPr txBox="1">
            <a:spLocks/>
          </p:cNvSpPr>
          <p:nvPr/>
        </p:nvSpPr>
        <p:spPr>
          <a:xfrm>
            <a:off x="1770926" y="2121200"/>
            <a:ext cx="9355852" cy="447319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accent3"/>
                </a:solidFill>
                <a:latin typeface="+mj-lt"/>
                <a:ea typeface="+mn-ea"/>
                <a:cs typeface="Biome" panose="020B0503030204020804" pitchFamily="34" charset="0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>
              <a:lnSpc>
                <a:spcPct val="150000"/>
              </a:lnSpc>
            </a:pPr>
            <a:r>
              <a:rPr lang="en-US" sz="1800" b="1" dirty="0">
                <a:solidFill>
                  <a:schemeClr val="bg1">
                    <a:lumMod val="95000"/>
                  </a:schemeClr>
                </a:solidFill>
                <a:latin typeface="KalamehFaNum" pitchFamily="2" charset="-78"/>
                <a:cs typeface="KalamehFaNum" pitchFamily="2" charset="-78"/>
              </a:rPr>
              <a:t>Experiential Marketing</a:t>
            </a:r>
            <a:r>
              <a:rPr lang="fa-IR" sz="1800" b="1" dirty="0">
                <a:solidFill>
                  <a:schemeClr val="bg1">
                    <a:lumMod val="95000"/>
                  </a:schemeClr>
                </a:solidFill>
                <a:latin typeface="KalamehFaNum" pitchFamily="2" charset="-78"/>
                <a:cs typeface="KalamehFaNum" pitchFamily="2" charset="-78"/>
              </a:rPr>
              <a:t>: </a:t>
            </a:r>
            <a:r>
              <a:rPr lang="fa-IR" sz="1800" dirty="0">
                <a:solidFill>
                  <a:schemeClr val="bg1">
                    <a:lumMod val="95000"/>
                  </a:schemeClr>
                </a:solidFill>
                <a:latin typeface="KalamehFaNum" pitchFamily="2" charset="-78"/>
                <a:cs typeface="KalamehFaNum" pitchFamily="2" charset="-78"/>
              </a:rPr>
              <a:t>قابلیت اعطای هدایای فیزیکی و تایپوگرافی هایی از جملات برتر</a:t>
            </a:r>
          </a:p>
          <a:p>
            <a:pPr algn="r" rtl="1">
              <a:lnSpc>
                <a:spcPct val="150000"/>
              </a:lnSpc>
            </a:pPr>
            <a:r>
              <a:rPr lang="en-US" sz="1800" b="1" dirty="0">
                <a:solidFill>
                  <a:schemeClr val="bg1">
                    <a:lumMod val="95000"/>
                  </a:schemeClr>
                </a:solidFill>
                <a:latin typeface="KalamehFaNum" pitchFamily="2" charset="-78"/>
                <a:cs typeface="KalamehFaNum" pitchFamily="2" charset="-78"/>
              </a:rPr>
              <a:t>Content Marketing</a:t>
            </a:r>
            <a:r>
              <a:rPr lang="fa-IR" sz="1800" b="1" dirty="0">
                <a:solidFill>
                  <a:schemeClr val="bg1">
                    <a:lumMod val="95000"/>
                  </a:schemeClr>
                </a:solidFill>
                <a:latin typeface="KalamehFaNum" pitchFamily="2" charset="-78"/>
                <a:cs typeface="KalamehFaNum" pitchFamily="2" charset="-78"/>
              </a:rPr>
              <a:t>: </a:t>
            </a:r>
            <a:r>
              <a:rPr lang="fa-IR" sz="1800" dirty="0">
                <a:solidFill>
                  <a:schemeClr val="bg1">
                    <a:lumMod val="95000"/>
                  </a:schemeClr>
                </a:solidFill>
                <a:latin typeface="KalamehFaNum" pitchFamily="2" charset="-78"/>
                <a:cs typeface="KalamehFaNum" pitchFamily="2" charset="-78"/>
              </a:rPr>
              <a:t>دریافت طرح های گرافیکی از جملات برتر کتاب ها(جملاتی که بیشترین نشان را دارند)</a:t>
            </a:r>
            <a:r>
              <a:rPr lang="en-US" sz="1800" b="1" dirty="0">
                <a:solidFill>
                  <a:schemeClr val="bg1">
                    <a:lumMod val="95000"/>
                  </a:schemeClr>
                </a:solidFill>
                <a:latin typeface="KalamehFaNum" pitchFamily="2" charset="-78"/>
                <a:cs typeface="KalamehFaNum" pitchFamily="2" charset="-78"/>
              </a:rPr>
              <a:t> </a:t>
            </a:r>
            <a:endParaRPr lang="fa-IR" sz="1800" dirty="0">
              <a:solidFill>
                <a:schemeClr val="bg1">
                  <a:lumMod val="95000"/>
                </a:schemeClr>
              </a:solidFill>
              <a:latin typeface="KalamehFaNum" pitchFamily="2" charset="-78"/>
              <a:cs typeface="KalamehFaNum" pitchFamily="2" charset="-78"/>
            </a:endParaRPr>
          </a:p>
          <a:p>
            <a:pPr algn="r" rtl="1">
              <a:lnSpc>
                <a:spcPct val="150000"/>
              </a:lnSpc>
            </a:pPr>
            <a:r>
              <a:rPr lang="en-US" sz="1800" b="1" dirty="0">
                <a:solidFill>
                  <a:schemeClr val="bg1">
                    <a:lumMod val="95000"/>
                  </a:schemeClr>
                </a:solidFill>
                <a:latin typeface="KalamehFaNum" pitchFamily="2" charset="-78"/>
                <a:cs typeface="KalamehFaNum" pitchFamily="2" charset="-78"/>
              </a:rPr>
              <a:t>Social Media Marketing</a:t>
            </a:r>
            <a:r>
              <a:rPr lang="fa-IR" sz="1800" b="1" dirty="0">
                <a:solidFill>
                  <a:schemeClr val="bg1">
                    <a:lumMod val="95000"/>
                  </a:schemeClr>
                </a:solidFill>
                <a:latin typeface="KalamehFaNum" pitchFamily="2" charset="-78"/>
                <a:cs typeface="KalamehFaNum" pitchFamily="2" charset="-78"/>
              </a:rPr>
              <a:t>: </a:t>
            </a:r>
            <a:r>
              <a:rPr lang="fa-IR" sz="1800" dirty="0">
                <a:solidFill>
                  <a:schemeClr val="bg1">
                    <a:lumMod val="95000"/>
                  </a:schemeClr>
                </a:solidFill>
                <a:latin typeface="KalamehFaNum" pitchFamily="2" charset="-78"/>
                <a:cs typeface="KalamehFaNum" pitchFamily="2" charset="-78"/>
              </a:rPr>
              <a:t>راه‌اندازی چالش‌های صوتی در شبکه‌های اجتماعی برای تعامل با مخاطب</a:t>
            </a:r>
            <a:endParaRPr lang="fa-IR" sz="1800" b="1" dirty="0">
              <a:solidFill>
                <a:schemeClr val="bg1">
                  <a:lumMod val="95000"/>
                </a:schemeClr>
              </a:solidFill>
              <a:latin typeface="KalamehFaNum" pitchFamily="2" charset="-78"/>
              <a:cs typeface="KalamehFaNum" pitchFamily="2" charset="-78"/>
            </a:endParaRPr>
          </a:p>
          <a:p>
            <a:pPr algn="r" rtl="1">
              <a:lnSpc>
                <a:spcPct val="150000"/>
              </a:lnSpc>
            </a:pPr>
            <a:r>
              <a:rPr lang="en-US" sz="1800" b="1" dirty="0">
                <a:solidFill>
                  <a:schemeClr val="bg1">
                    <a:lumMod val="95000"/>
                  </a:schemeClr>
                </a:solidFill>
                <a:latin typeface="KalamehFaNum" pitchFamily="2" charset="-78"/>
                <a:cs typeface="KalamehFaNum" pitchFamily="2" charset="-78"/>
              </a:rPr>
              <a:t>Viral Marketing</a:t>
            </a:r>
            <a:r>
              <a:rPr lang="fa-IR" sz="1800" b="1" dirty="0">
                <a:solidFill>
                  <a:schemeClr val="bg1">
                    <a:lumMod val="95000"/>
                  </a:schemeClr>
                </a:solidFill>
                <a:latin typeface="KalamehFaNum" pitchFamily="2" charset="-78"/>
                <a:cs typeface="KalamehFaNum" pitchFamily="2" charset="-78"/>
              </a:rPr>
              <a:t>: </a:t>
            </a:r>
            <a:r>
              <a:rPr lang="fa-IR" sz="1800" dirty="0">
                <a:solidFill>
                  <a:schemeClr val="bg1">
                    <a:lumMod val="95000"/>
                  </a:schemeClr>
                </a:solidFill>
                <a:latin typeface="KalamehFaNum" pitchFamily="2" charset="-78"/>
                <a:cs typeface="KalamehFaNum" pitchFamily="2" charset="-78"/>
              </a:rPr>
              <a:t>چالش‌های صوتی در اینستاگرام یا تلگرام برای افزایش تعامل کاربران با پلتفرم</a:t>
            </a:r>
          </a:p>
          <a:p>
            <a:pPr algn="r" rtl="1">
              <a:lnSpc>
                <a:spcPct val="150000"/>
              </a:lnSpc>
            </a:pPr>
            <a:r>
              <a:rPr lang="en-US" sz="1800" b="1" dirty="0">
                <a:solidFill>
                  <a:schemeClr val="bg1">
                    <a:lumMod val="95000"/>
                  </a:schemeClr>
                </a:solidFill>
                <a:latin typeface="KalamehFaNum" pitchFamily="2" charset="-78"/>
                <a:cs typeface="KalamehFaNum" pitchFamily="2" charset="-78"/>
              </a:rPr>
              <a:t>Incentive Marketing </a:t>
            </a:r>
            <a:r>
              <a:rPr lang="fa-IR" sz="1800" b="1" dirty="0">
                <a:solidFill>
                  <a:schemeClr val="bg1">
                    <a:lumMod val="95000"/>
                  </a:schemeClr>
                </a:solidFill>
                <a:latin typeface="KalamehFaNum" pitchFamily="2" charset="-78"/>
                <a:cs typeface="KalamehFaNum" pitchFamily="2" charset="-78"/>
              </a:rPr>
              <a:t>: دریافت نشان «کتابخوان اعظم»، </a:t>
            </a:r>
            <a:r>
              <a:rPr lang="fa-IR" sz="1800" dirty="0">
                <a:solidFill>
                  <a:schemeClr val="bg1">
                    <a:lumMod val="95000"/>
                  </a:schemeClr>
                </a:solidFill>
                <a:latin typeface="KalamehFaNum" pitchFamily="2" charset="-78"/>
                <a:cs typeface="KalamehFaNum" pitchFamily="2" charset="-78"/>
              </a:rPr>
              <a:t>یعنی مشتریانی که مطالعه زیادی دارند کتاب ها را با قیمت کمتری میتوانند دریافت کنند و پیشنهادهایی مثل کتاب رایگان، کارت هدیه، فراخوان و بن تخفیف</a:t>
            </a:r>
          </a:p>
          <a:p>
            <a:pPr algn="r" rtl="1">
              <a:lnSpc>
                <a:spcPct val="150000"/>
              </a:lnSpc>
            </a:pPr>
            <a:r>
              <a:rPr lang="en-US" sz="1800" b="1" dirty="0">
                <a:solidFill>
                  <a:schemeClr val="bg1"/>
                </a:solidFill>
                <a:effectLst/>
                <a:latin typeface="+mn-lt"/>
              </a:rPr>
              <a:t>Viral Marketing</a:t>
            </a:r>
            <a:r>
              <a:rPr lang="fa-IR" sz="1800" b="1" dirty="0">
                <a:solidFill>
                  <a:schemeClr val="bg1"/>
                </a:solidFill>
                <a:effectLst/>
                <a:latin typeface="+mn-lt"/>
              </a:rPr>
              <a:t>: </a:t>
            </a:r>
            <a:r>
              <a:rPr lang="fa-IR" sz="1800" dirty="0">
                <a:solidFill>
                  <a:schemeClr val="bg1"/>
                </a:solidFill>
                <a:latin typeface="KalamehFaNum" pitchFamily="2" charset="-78"/>
                <a:cs typeface="KalamehFaNum" pitchFamily="2" charset="-78"/>
              </a:rPr>
              <a:t>چالش‌های صوتی در اینستاگرام یا تلگرام برای افزایش تعامل کاربران با پلتفرم</a:t>
            </a:r>
            <a:endParaRPr lang="fa-IR" sz="1800" dirty="0">
              <a:solidFill>
                <a:schemeClr val="bg1">
                  <a:lumMod val="95000"/>
                </a:schemeClr>
              </a:solidFill>
              <a:latin typeface="KalamehFaNum" pitchFamily="2" charset="-78"/>
              <a:cs typeface="KalamehFaNum" pitchFamily="2" charset="-78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262ADC8-899B-2F28-CE65-F8B290C9B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/>
          <a:lstStyle/>
          <a:p>
            <a:pPr algn="r" rtl="1"/>
            <a:r>
              <a:rPr lang="fa-IR" b="1" dirty="0">
                <a:latin typeface="Sahel" panose="020B0603030804020204" pitchFamily="34" charset="-78"/>
                <a:cs typeface="Sahel" panose="020B0603030804020204" pitchFamily="34" charset="-78"/>
              </a:rPr>
              <a:t>استراتژی بازاریابی</a:t>
            </a:r>
            <a:br>
              <a:rPr lang="fa-IR" b="1" dirty="0">
                <a:latin typeface="Sahel" panose="020B0603030804020204" pitchFamily="34" charset="-78"/>
                <a:cs typeface="Sahel" panose="020B0603030804020204" pitchFamily="34" charset="-78"/>
              </a:rPr>
            </a:br>
            <a:br>
              <a:rPr lang="fa-IR" sz="1800" b="1" dirty="0">
                <a:latin typeface="Sahel" panose="020B0603030804020204" pitchFamily="34" charset="-78"/>
                <a:cs typeface="Sahel" panose="020B0603030804020204" pitchFamily="34" charset="-78"/>
              </a:rPr>
            </a:br>
            <a:r>
              <a:rPr lang="fa-IR" sz="2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Sahel" panose="020B0603030804020204" pitchFamily="34" charset="-78"/>
                <a:cs typeface="Sahel" panose="020B0603030804020204" pitchFamily="34" charset="-78"/>
              </a:rPr>
              <a:t>«استراتژی گام سوم – بیش از یک سال ابتدایی»</a:t>
            </a:r>
            <a:endParaRPr lang="en-US" b="1" dirty="0">
              <a:solidFill>
                <a:schemeClr val="accent1">
                  <a:lumMod val="40000"/>
                  <a:lumOff val="60000"/>
                </a:schemeClr>
              </a:solidFill>
              <a:latin typeface="Sahel" panose="020B0603030804020204" pitchFamily="34" charset="-78"/>
              <a:cs typeface="Sahel" panose="020B060303080402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7526973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8692FC88-DAD7-F5AD-7831-DE5432210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12227942" cy="6857997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14BAF63-1616-9E28-7248-E068D87B326C}"/>
              </a:ext>
            </a:extLst>
          </p:cNvPr>
          <p:cNvGraphicFramePr>
            <a:graphicFrameLocks noGrp="1"/>
          </p:cNvGraphicFramePr>
          <p:nvPr>
            <p:ph sz="quarter" idx="31"/>
            <p:extLst>
              <p:ext uri="{D42A27DB-BD31-4B8C-83A1-F6EECF244321}">
                <p14:modId xmlns:p14="http://schemas.microsoft.com/office/powerpoint/2010/main" val="1420745268"/>
              </p:ext>
            </p:extLst>
          </p:nvPr>
        </p:nvGraphicFramePr>
        <p:xfrm>
          <a:off x="1325629" y="40675"/>
          <a:ext cx="9316527" cy="6776649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595887">
                  <a:extLst>
                    <a:ext uri="{9D8B030D-6E8A-4147-A177-3AD203B41FA5}">
                      <a16:colId xmlns:a16="http://schemas.microsoft.com/office/drawing/2014/main" val="2611857927"/>
                    </a:ext>
                  </a:extLst>
                </a:gridCol>
                <a:gridCol w="1954860">
                  <a:extLst>
                    <a:ext uri="{9D8B030D-6E8A-4147-A177-3AD203B41FA5}">
                      <a16:colId xmlns:a16="http://schemas.microsoft.com/office/drawing/2014/main" val="2934420787"/>
                    </a:ext>
                  </a:extLst>
                </a:gridCol>
                <a:gridCol w="782552">
                  <a:extLst>
                    <a:ext uri="{9D8B030D-6E8A-4147-A177-3AD203B41FA5}">
                      <a16:colId xmlns:a16="http://schemas.microsoft.com/office/drawing/2014/main" val="3270070753"/>
                    </a:ext>
                  </a:extLst>
                </a:gridCol>
                <a:gridCol w="1196233">
                  <a:extLst>
                    <a:ext uri="{9D8B030D-6E8A-4147-A177-3AD203B41FA5}">
                      <a16:colId xmlns:a16="http://schemas.microsoft.com/office/drawing/2014/main" val="133576958"/>
                    </a:ext>
                  </a:extLst>
                </a:gridCol>
                <a:gridCol w="2122098">
                  <a:extLst>
                    <a:ext uri="{9D8B030D-6E8A-4147-A177-3AD203B41FA5}">
                      <a16:colId xmlns:a16="http://schemas.microsoft.com/office/drawing/2014/main" val="4153132978"/>
                    </a:ext>
                  </a:extLst>
                </a:gridCol>
                <a:gridCol w="1664897">
                  <a:extLst>
                    <a:ext uri="{9D8B030D-6E8A-4147-A177-3AD203B41FA5}">
                      <a16:colId xmlns:a16="http://schemas.microsoft.com/office/drawing/2014/main" val="2859593635"/>
                    </a:ext>
                  </a:extLst>
                </a:gridCol>
              </a:tblGrid>
              <a:tr h="2977522">
                <a:tc>
                  <a:txBody>
                    <a:bodyPr/>
                    <a:lstStyle/>
                    <a:p>
                      <a:pPr algn="ctr" rtl="1"/>
                      <a:r>
                        <a:rPr lang="fa-IR" sz="1600" dirty="0">
                          <a:latin typeface="AzarMehr-DS1-FD Black" pitchFamily="2" charset="-78"/>
                          <a:cs typeface="AzarMehr-DS1-FD Black" pitchFamily="2" charset="-78"/>
                        </a:rPr>
                        <a:t>مساله</a:t>
                      </a:r>
                    </a:p>
                    <a:p>
                      <a:pPr algn="ctr" rtl="1">
                        <a:lnSpc>
                          <a:spcPct val="150000"/>
                        </a:lnSpc>
                      </a:pPr>
                      <a:r>
                        <a:rPr lang="fa-IR" sz="1200" dirty="0">
                          <a:latin typeface="AzarMehr-DS1-FD Black" pitchFamily="2" charset="-78"/>
                          <a:cs typeface="AzarMehr-DS1-FD Black" pitchFamily="2" charset="-78"/>
                        </a:rPr>
                        <a:t>پوشش کتاب ها با سرعت هوش مصنوعی</a:t>
                      </a:r>
                    </a:p>
                    <a:p>
                      <a:pPr algn="ctr" rtl="1">
                        <a:lnSpc>
                          <a:spcPct val="150000"/>
                        </a:lnSpc>
                      </a:pPr>
                      <a:r>
                        <a:rPr lang="fa-IR" sz="1200" dirty="0">
                          <a:latin typeface="AzarMehr-DS1-FD Black" pitchFamily="2" charset="-78"/>
                          <a:cs typeface="AzarMehr-DS1-FD Black" pitchFamily="2" charset="-78"/>
                        </a:rPr>
                        <a:t>امکان تعامل و رابطه دوستانه</a:t>
                      </a:r>
                      <a:endParaRPr lang="en-US" sz="1200" dirty="0">
                        <a:latin typeface="AzarMehr-DS1-FD Black" pitchFamily="2" charset="-78"/>
                        <a:cs typeface="AzarMehr-DS1-FD Black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dirty="0">
                          <a:latin typeface="AzarMehr-DS1-FD Black" pitchFamily="2" charset="-78"/>
                          <a:cs typeface="AzarMehr-DS1-FD Black" pitchFamily="2" charset="-78"/>
                        </a:rPr>
                        <a:t>راهکار</a:t>
                      </a:r>
                    </a:p>
                    <a:p>
                      <a:pPr algn="ctr" rtl="1"/>
                      <a:endParaRPr lang="fa-IR" sz="500" dirty="0">
                        <a:latin typeface="AzarMehr-DS1-FD Black" pitchFamily="2" charset="-78"/>
                        <a:cs typeface="AzarMehr-DS1-FD Black" pitchFamily="2" charset="-78"/>
                      </a:endParaRPr>
                    </a:p>
                    <a:p>
                      <a:pPr algn="ctr" rtl="1"/>
                      <a:r>
                        <a:rPr lang="fa-IR" sz="1050" dirty="0">
                          <a:latin typeface="AzarMehr-DS1-FD Black" pitchFamily="2" charset="-78"/>
                          <a:cs typeface="AzarMehr-DS1-FD Black" pitchFamily="2" charset="-78"/>
                        </a:rPr>
                        <a:t>ارائه محتوای ارزشمند و به روز</a:t>
                      </a:r>
                    </a:p>
                    <a:p>
                      <a:pPr algn="ctr" rtl="1"/>
                      <a:r>
                        <a:rPr lang="fa-IR" sz="1050" dirty="0">
                          <a:latin typeface="AzarMehr-DS1-FD Black" pitchFamily="2" charset="-78"/>
                          <a:cs typeface="AzarMehr-DS1-FD Black" pitchFamily="2" charset="-78"/>
                        </a:rPr>
                        <a:t>ارائه محصولی که در وقت به صرفه باشد</a:t>
                      </a:r>
                    </a:p>
                    <a:p>
                      <a:pPr algn="ctr" rtl="1"/>
                      <a:r>
                        <a:rPr lang="fa-IR" sz="1050" dirty="0">
                          <a:latin typeface="AzarMehr-DS1-FD Black" pitchFamily="2" charset="-78"/>
                          <a:cs typeface="AzarMehr-DS1-FD Black" pitchFamily="2" charset="-78"/>
                        </a:rPr>
                        <a:t>ارائه محصولی با توجه به نیاز های کاربر</a:t>
                      </a:r>
                    </a:p>
                    <a:p>
                      <a:pPr algn="ctr" rtl="1"/>
                      <a:r>
                        <a:rPr lang="fa-IR" sz="1050" dirty="0">
                          <a:latin typeface="AzarMehr-DS1-FD Black" pitchFamily="2" charset="-78"/>
                          <a:cs typeface="AzarMehr-DS1-FD Black" pitchFamily="2" charset="-78"/>
                        </a:rPr>
                        <a:t>چت بات معرفی کتاب</a:t>
                      </a:r>
                    </a:p>
                    <a:p>
                      <a:pPr algn="ctr" rtl="1"/>
                      <a:r>
                        <a:rPr lang="fa-IR" sz="1050" dirty="0">
                          <a:latin typeface="AzarMehr-DS1-FD Black" pitchFamily="2" charset="-78"/>
                          <a:cs typeface="AzarMehr-DS1-FD Black" pitchFamily="2" charset="-78"/>
                        </a:rPr>
                        <a:t>ارائه برنامه مطالعاتی با توجه به علایق، رشته تحصیلی و شغل کاربر</a:t>
                      </a:r>
                    </a:p>
                    <a:p>
                      <a:pPr algn="ctr" rtl="1"/>
                      <a:r>
                        <a:rPr lang="fa-IR" sz="1050" dirty="0">
                          <a:latin typeface="AzarMehr-DS1-FD Black" pitchFamily="2" charset="-78"/>
                          <a:cs typeface="AzarMehr-DS1-FD Black" pitchFamily="2" charset="-78"/>
                        </a:rPr>
                        <a:t>عضو گیری و سرویس عضویت</a:t>
                      </a:r>
                    </a:p>
                    <a:p>
                      <a:pPr algn="ctr" rtl="1"/>
                      <a:r>
                        <a:rPr lang="fa-IR" sz="1050" dirty="0">
                          <a:latin typeface="AzarMehr-DS1-FD Black" pitchFamily="2" charset="-78"/>
                          <a:cs typeface="AzarMehr-DS1-FD Black" pitchFamily="2" charset="-78"/>
                        </a:rPr>
                        <a:t>ایجاد قبیله ای از طرفداران دو آتیشه</a:t>
                      </a:r>
                    </a:p>
                    <a:p>
                      <a:pPr algn="ctr" rtl="1"/>
                      <a:r>
                        <a:rPr lang="fa-IR" sz="1050" dirty="0">
                          <a:latin typeface="AzarMehr-DS1-FD Black" pitchFamily="2" charset="-78"/>
                          <a:cs typeface="AzarMehr-DS1-FD Black" pitchFamily="2" charset="-78"/>
                        </a:rPr>
                        <a:t>نشان کتابخوان اعظم</a:t>
                      </a:r>
                    </a:p>
                    <a:p>
                      <a:pPr algn="ctr" rtl="1"/>
                      <a:r>
                        <a:rPr lang="fa-IR" sz="1050" dirty="0">
                          <a:latin typeface="AzarMehr-DS1-FD Black" pitchFamily="2" charset="-78"/>
                          <a:cs typeface="AzarMehr-DS1-FD Black" pitchFamily="2" charset="-78"/>
                        </a:rPr>
                        <a:t>توجه به گروه های خاص</a:t>
                      </a:r>
                    </a:p>
                    <a:p>
                      <a:pPr algn="ctr" rtl="1"/>
                      <a:r>
                        <a:rPr lang="fa-IR" sz="1050" dirty="0">
                          <a:latin typeface="AzarMehr-DS1-FD Black" pitchFamily="2" charset="-78"/>
                          <a:cs typeface="AzarMehr-DS1-FD Black" pitchFamily="2" charset="-78"/>
                        </a:rPr>
                        <a:t>دو سویه مخاطب و پلتفرم</a:t>
                      </a:r>
                      <a:endParaRPr lang="fa-IR" dirty="0">
                        <a:latin typeface="AzarMehr-DS1-FD Black" pitchFamily="2" charset="-78"/>
                        <a:cs typeface="AzarMehr-DS1-FD Black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 gridSpan="2">
                  <a:txBody>
                    <a:bodyPr/>
                    <a:lstStyle/>
                    <a:p>
                      <a:pPr algn="ctr" rtl="1"/>
                      <a:r>
                        <a:rPr lang="fa-IR" sz="1600" dirty="0">
                          <a:latin typeface="AzarMehr-DS1-FD Black" pitchFamily="2" charset="-78"/>
                          <a:cs typeface="AzarMehr-DS1-FD Black" pitchFamily="2" charset="-78"/>
                        </a:rPr>
                        <a:t>ارزش پیشنهادی یکتا</a:t>
                      </a:r>
                    </a:p>
                    <a:p>
                      <a:pPr algn="ctr" rtl="1"/>
                      <a:endParaRPr lang="fa-IR" dirty="0">
                        <a:latin typeface="AzarMehr-DS1-FD Black" pitchFamily="2" charset="-78"/>
                        <a:cs typeface="AzarMehr-DS1-FD Black" pitchFamily="2" charset="-78"/>
                      </a:endParaRPr>
                    </a:p>
                    <a:p>
                      <a:pPr algn="ctr" rtl="1">
                        <a:lnSpc>
                          <a:spcPct val="150000"/>
                        </a:lnSpc>
                      </a:pPr>
                      <a:r>
                        <a:rPr lang="fa-IR" sz="1200" dirty="0">
                          <a:latin typeface="AzarMehr-DS1-FD Black" pitchFamily="2" charset="-78"/>
                          <a:cs typeface="AzarMehr-DS1-FD Black" pitchFamily="2" charset="-78"/>
                        </a:rPr>
                        <a:t>خوانش با مدل های صوتی شخصی سازی شده</a:t>
                      </a:r>
                    </a:p>
                    <a:p>
                      <a:pPr algn="ctr" rtl="1">
                        <a:lnSpc>
                          <a:spcPct val="150000"/>
                        </a:lnSpc>
                      </a:pPr>
                      <a:r>
                        <a:rPr lang="fa-IR" sz="1200" dirty="0">
                          <a:latin typeface="AzarMehr-DS1-FD Black" pitchFamily="2" charset="-78"/>
                          <a:cs typeface="AzarMehr-DS1-FD Black" pitchFamily="2" charset="-78"/>
                        </a:rPr>
                        <a:t>چت بات</a:t>
                      </a:r>
                    </a:p>
                    <a:p>
                      <a:pPr algn="ctr" rtl="1">
                        <a:lnSpc>
                          <a:spcPct val="150000"/>
                        </a:lnSpc>
                      </a:pPr>
                      <a:r>
                        <a:rPr lang="fa-IR" sz="1200" dirty="0">
                          <a:latin typeface="AzarMehr-DS1-FD Black" pitchFamily="2" charset="-78"/>
                          <a:cs typeface="AzarMehr-DS1-FD Black" pitchFamily="2" charset="-78"/>
                        </a:rPr>
                        <a:t>تولید محتوا با گویشهای مختلف</a:t>
                      </a:r>
                    </a:p>
                    <a:p>
                      <a:pPr algn="ctr" rtl="1">
                        <a:lnSpc>
                          <a:spcPct val="150000"/>
                        </a:lnSpc>
                      </a:pPr>
                      <a:r>
                        <a:rPr lang="fa-IR" sz="1200" dirty="0">
                          <a:latin typeface="AzarMehr-DS1-FD Black" pitchFamily="2" charset="-78"/>
                          <a:cs typeface="AzarMehr-DS1-FD Black" pitchFamily="2" charset="-78"/>
                        </a:rPr>
                        <a:t>تولید پخش کتابها به صورت سیر ملی</a:t>
                      </a:r>
                    </a:p>
                    <a:p>
                      <a:pPr algn="ctr" rtl="1"/>
                      <a:endParaRPr lang="fa-IR" sz="1200" dirty="0">
                        <a:latin typeface="AzarMehr-DS1-FD Black" pitchFamily="2" charset="-78"/>
                        <a:cs typeface="AzarMehr-DS1-FD Black" pitchFamily="2" charset="-78"/>
                      </a:endParaRPr>
                    </a:p>
                    <a:p>
                      <a:pPr algn="ctr" rtl="1"/>
                      <a:endParaRPr lang="fa-IR" sz="1200" dirty="0">
                        <a:latin typeface="AzarMehr-DS1-FD Black" pitchFamily="2" charset="-78"/>
                        <a:cs typeface="AzarMehr-DS1-FD Black" pitchFamily="2" charset="-78"/>
                      </a:endParaRPr>
                    </a:p>
                    <a:p>
                      <a:pPr algn="ctr" rtl="1"/>
                      <a:endParaRPr lang="fa-IR" sz="1200" dirty="0">
                        <a:latin typeface="AzarMehr-DS1-FD Black" pitchFamily="2" charset="-78"/>
                        <a:cs typeface="AzarMehr-DS1-FD Black" pitchFamily="2" charset="-78"/>
                      </a:endParaRPr>
                    </a:p>
                    <a:p>
                      <a:pPr algn="ctr" rtl="1"/>
                      <a:endParaRPr lang="fa-IR" sz="1200" dirty="0">
                        <a:latin typeface="AzarMehr-DS1-FD Black" pitchFamily="2" charset="-78"/>
                        <a:cs typeface="AzarMehr-DS1-FD Black" pitchFamily="2" charset="-78"/>
                      </a:endParaRPr>
                    </a:p>
                    <a:p>
                      <a:pPr algn="ctr" rtl="1"/>
                      <a:r>
                        <a:rPr lang="fa-IR" sz="1800" dirty="0">
                          <a:latin typeface="AzarMehr-DS1-FD Black" pitchFamily="2" charset="-78"/>
                          <a:cs typeface="AzarMehr-DS1-FD Black" pitchFamily="2" charset="-78"/>
                        </a:rPr>
                        <a:t>مفهوم سطح بالا</a:t>
                      </a:r>
                    </a:p>
                    <a:p>
                      <a:pPr algn="ctr" rtl="1"/>
                      <a:endParaRPr lang="fa-IR" sz="1200" dirty="0">
                        <a:latin typeface="AzarMehr-DS1-FD Black" pitchFamily="2" charset="-78"/>
                        <a:cs typeface="AzarMehr-DS1-FD Black" pitchFamily="2" charset="-78"/>
                      </a:endParaRPr>
                    </a:p>
                    <a:p>
                      <a:pPr algn="ctr" rtl="1"/>
                      <a:r>
                        <a:rPr lang="en-US" sz="1200" dirty="0">
                          <a:latin typeface="AzarMehr-DS1-FD Black" pitchFamily="2" charset="-78"/>
                          <a:cs typeface="AzarMehr-DS1-FD Black" pitchFamily="2" charset="-78"/>
                        </a:rPr>
                        <a:t>Amazon kindle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2000" dirty="0">
                          <a:latin typeface="AzarMehr-DS1-FD Black" pitchFamily="2" charset="-78"/>
                          <a:cs typeface="AzarMehr-DS1-FD Black" pitchFamily="2" charset="-78"/>
                        </a:rPr>
                        <a:t>برتری مطلق</a:t>
                      </a:r>
                      <a:endParaRPr lang="en-US" sz="2000" dirty="0">
                        <a:latin typeface="AzarMehr-DS1-FD Black" pitchFamily="2" charset="-78"/>
                        <a:cs typeface="AzarMehr-DS1-FD Black" pitchFamily="2" charset="-78"/>
                      </a:endParaRPr>
                    </a:p>
                    <a:p>
                      <a:pPr algn="ctr" rtl="1">
                        <a:lnSpc>
                          <a:spcPct val="200000"/>
                        </a:lnSpc>
                      </a:pPr>
                      <a:r>
                        <a:rPr lang="fa-IR" sz="1200" dirty="0">
                          <a:latin typeface="AzarMehr-DS1-FD Black" pitchFamily="2" charset="-78"/>
                          <a:cs typeface="AzarMehr-DS1-FD Black" pitchFamily="2" charset="-78"/>
                        </a:rPr>
                        <a:t>هوش مصنوعی</a:t>
                      </a:r>
                    </a:p>
                    <a:p>
                      <a:pPr algn="ctr" rtl="1">
                        <a:lnSpc>
                          <a:spcPct val="200000"/>
                        </a:lnSpc>
                      </a:pPr>
                      <a:r>
                        <a:rPr lang="fa-IR" sz="1200" dirty="0">
                          <a:latin typeface="AzarMehr-DS1-FD Black" pitchFamily="2" charset="-78"/>
                          <a:cs typeface="AzarMehr-DS1-FD Black" pitchFamily="2" charset="-78"/>
                        </a:rPr>
                        <a:t>سرعت ارائه</a:t>
                      </a:r>
                    </a:p>
                    <a:p>
                      <a:pPr algn="ctr" rtl="1">
                        <a:lnSpc>
                          <a:spcPct val="200000"/>
                        </a:lnSpc>
                      </a:pPr>
                      <a:r>
                        <a:rPr lang="fa-IR" sz="1200" dirty="0">
                          <a:latin typeface="AzarMehr-DS1-FD Black" pitchFamily="2" charset="-78"/>
                          <a:cs typeface="AzarMehr-DS1-FD Black" pitchFamily="2" charset="-78"/>
                        </a:rPr>
                        <a:t>چت بات</a:t>
                      </a:r>
                    </a:p>
                    <a:p>
                      <a:pPr algn="ctr" rtl="1">
                        <a:lnSpc>
                          <a:spcPct val="200000"/>
                        </a:lnSpc>
                      </a:pPr>
                      <a:r>
                        <a:rPr lang="fa-IR" sz="1200" dirty="0">
                          <a:latin typeface="AzarMehr-DS1-FD Black" pitchFamily="2" charset="-78"/>
                          <a:cs typeface="AzarMehr-DS1-FD Black" pitchFamily="2" charset="-78"/>
                        </a:rPr>
                        <a:t>گیمیفیکیشن</a:t>
                      </a:r>
                      <a:endParaRPr lang="en-US" sz="1200" dirty="0">
                        <a:latin typeface="AzarMehr-DS1-FD Black" pitchFamily="2" charset="-78"/>
                        <a:cs typeface="AzarMehr-DS1-FD Black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 rtl="1"/>
                      <a:r>
                        <a:rPr lang="fa-IR" dirty="0">
                          <a:latin typeface="AzarMehr-DS1-FD Black" pitchFamily="2" charset="-78"/>
                          <a:cs typeface="AzarMehr-DS1-FD Black" pitchFamily="2" charset="-78"/>
                        </a:rPr>
                        <a:t>بخش های مشتری</a:t>
                      </a:r>
                    </a:p>
                    <a:p>
                      <a:pPr algn="ctr" rtl="1"/>
                      <a:endParaRPr lang="fa-IR" dirty="0">
                        <a:latin typeface="AzarMehr-DS1-FD Black" pitchFamily="2" charset="-78"/>
                        <a:cs typeface="AzarMehr-DS1-FD Black" pitchFamily="2" charset="-78"/>
                      </a:endParaRPr>
                    </a:p>
                    <a:p>
                      <a:pPr algn="ctr" rtl="1">
                        <a:lnSpc>
                          <a:spcPct val="200000"/>
                        </a:lnSpc>
                      </a:pPr>
                      <a:r>
                        <a:rPr lang="fa-IR" sz="1200" dirty="0">
                          <a:latin typeface="AzarMehr-DS1-FD Black" pitchFamily="2" charset="-78"/>
                          <a:cs typeface="AzarMehr-DS1-FD Black" pitchFamily="2" charset="-78"/>
                        </a:rPr>
                        <a:t>دانشجویان</a:t>
                      </a:r>
                    </a:p>
                    <a:p>
                      <a:pPr algn="ctr" rtl="1">
                        <a:lnSpc>
                          <a:spcPct val="200000"/>
                        </a:lnSpc>
                      </a:pPr>
                      <a:r>
                        <a:rPr lang="fa-IR" sz="1200" dirty="0">
                          <a:latin typeface="AzarMehr-DS1-FD Black" pitchFamily="2" charset="-78"/>
                          <a:cs typeface="AzarMehr-DS1-FD Black" pitchFamily="2" charset="-78"/>
                        </a:rPr>
                        <a:t>استادان</a:t>
                      </a:r>
                    </a:p>
                    <a:p>
                      <a:pPr algn="ctr" rtl="1">
                        <a:lnSpc>
                          <a:spcPct val="200000"/>
                        </a:lnSpc>
                      </a:pPr>
                      <a:r>
                        <a:rPr lang="fa-IR" sz="1200" dirty="0">
                          <a:latin typeface="AzarMehr-DS1-FD Black" pitchFamily="2" charset="-78"/>
                          <a:cs typeface="AzarMehr-DS1-FD Black" pitchFamily="2" charset="-78"/>
                        </a:rPr>
                        <a:t>کارآفرینان</a:t>
                      </a:r>
                    </a:p>
                    <a:p>
                      <a:pPr algn="ctr" rtl="1">
                        <a:lnSpc>
                          <a:spcPct val="200000"/>
                        </a:lnSpc>
                      </a:pPr>
                      <a:r>
                        <a:rPr lang="fa-IR" sz="1200" dirty="0">
                          <a:latin typeface="AzarMehr-DS1-FD Black" pitchFamily="2" charset="-78"/>
                          <a:cs typeface="AzarMehr-DS1-FD Black" pitchFamily="2" charset="-78"/>
                        </a:rPr>
                        <a:t>مدیران</a:t>
                      </a:r>
                    </a:p>
                    <a:p>
                      <a:pPr algn="ctr" rtl="1">
                        <a:lnSpc>
                          <a:spcPct val="200000"/>
                        </a:lnSpc>
                      </a:pPr>
                      <a:r>
                        <a:rPr lang="fa-IR" sz="1200" dirty="0">
                          <a:latin typeface="AzarMehr-DS1-FD Black" pitchFamily="2" charset="-78"/>
                          <a:cs typeface="AzarMehr-DS1-FD Black" pitchFamily="2" charset="-78"/>
                        </a:rPr>
                        <a:t>مردم عادی</a:t>
                      </a:r>
                    </a:p>
                    <a:p>
                      <a:pPr algn="ctr" rtl="1">
                        <a:lnSpc>
                          <a:spcPct val="200000"/>
                        </a:lnSpc>
                      </a:pPr>
                      <a:endParaRPr lang="fa-IR" sz="1100" dirty="0">
                        <a:latin typeface="AzarMehr-DS1-FD Black" pitchFamily="2" charset="-78"/>
                        <a:cs typeface="AzarMehr-DS1-FD Black" pitchFamily="2" charset="-78"/>
                      </a:endParaRPr>
                    </a:p>
                    <a:p>
                      <a:pPr algn="ctr" rtl="1">
                        <a:lnSpc>
                          <a:spcPct val="200000"/>
                        </a:lnSpc>
                      </a:pPr>
                      <a:r>
                        <a:rPr lang="fa-IR" sz="1400" dirty="0">
                          <a:latin typeface="AzarMehr-DS1-FD Black" pitchFamily="2" charset="-78"/>
                          <a:cs typeface="AzarMehr-DS1-FD Black" pitchFamily="2" charset="-78"/>
                        </a:rPr>
                        <a:t>پذیرندگان آغازین</a:t>
                      </a:r>
                    </a:p>
                    <a:p>
                      <a:pPr algn="ctr" rtl="1">
                        <a:lnSpc>
                          <a:spcPct val="200000"/>
                        </a:lnSpc>
                      </a:pPr>
                      <a:r>
                        <a:rPr lang="fa-IR" sz="1200" dirty="0">
                          <a:latin typeface="AzarMehr-DS1-FD Black" pitchFamily="2" charset="-78"/>
                          <a:cs typeface="AzarMehr-DS1-FD Black" pitchFamily="2" charset="-78"/>
                        </a:rPr>
                        <a:t>کارآفرینان</a:t>
                      </a:r>
                    </a:p>
                    <a:p>
                      <a:pPr algn="ctr" rtl="1">
                        <a:lnSpc>
                          <a:spcPct val="200000"/>
                        </a:lnSpc>
                      </a:pPr>
                      <a:r>
                        <a:rPr lang="fa-IR" sz="1200" dirty="0">
                          <a:latin typeface="AzarMehr-DS1-FD Black" pitchFamily="2" charset="-78"/>
                          <a:cs typeface="AzarMehr-DS1-FD Black" pitchFamily="2" charset="-78"/>
                        </a:rPr>
                        <a:t>دانشگاهیان</a:t>
                      </a:r>
                      <a:endParaRPr lang="fa-IR" sz="1600" dirty="0">
                        <a:latin typeface="AzarMehr-DS1-FD Black" pitchFamily="2" charset="-78"/>
                        <a:cs typeface="AzarMehr-DS1-FD Black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65222933"/>
                  </a:ext>
                </a:extLst>
              </a:tr>
              <a:tr h="2105025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</a:pPr>
                      <a:r>
                        <a:rPr lang="fa-IR" sz="1200" dirty="0">
                          <a:solidFill>
                            <a:schemeClr val="bg1"/>
                          </a:solidFill>
                          <a:latin typeface="AzarMehr-DS1-FD Black" pitchFamily="2" charset="-78"/>
                          <a:cs typeface="AzarMehr-DS1-FD Black" pitchFamily="2" charset="-78"/>
                        </a:rPr>
                        <a:t>جایگزین های موجود</a:t>
                      </a:r>
                    </a:p>
                    <a:p>
                      <a:pPr algn="ctr" rtl="1">
                        <a:lnSpc>
                          <a:spcPct val="150000"/>
                        </a:lnSpc>
                      </a:pPr>
                      <a:r>
                        <a:rPr lang="fa-IR" sz="1100" dirty="0">
                          <a:solidFill>
                            <a:schemeClr val="bg1"/>
                          </a:solidFill>
                          <a:latin typeface="AzarMehr-DS1-FD Black" pitchFamily="2" charset="-78"/>
                          <a:cs typeface="AzarMehr-DS1-FD Black" pitchFamily="2" charset="-78"/>
                        </a:rPr>
                        <a:t>فیدیبو</a:t>
                      </a:r>
                    </a:p>
                    <a:p>
                      <a:pPr algn="ctr" rtl="1">
                        <a:lnSpc>
                          <a:spcPct val="150000"/>
                        </a:lnSpc>
                      </a:pPr>
                      <a:r>
                        <a:rPr lang="fa-IR" sz="1100" dirty="0">
                          <a:solidFill>
                            <a:schemeClr val="bg1"/>
                          </a:solidFill>
                          <a:latin typeface="AzarMehr-DS1-FD Black" pitchFamily="2" charset="-78"/>
                          <a:cs typeface="AzarMehr-DS1-FD Black" pitchFamily="2" charset="-78"/>
                        </a:rPr>
                        <a:t>طاقچه</a:t>
                      </a:r>
                    </a:p>
                    <a:p>
                      <a:pPr algn="ctr" rtl="1">
                        <a:lnSpc>
                          <a:spcPct val="150000"/>
                        </a:lnSpc>
                      </a:pPr>
                      <a:r>
                        <a:rPr lang="fa-IR" sz="1100" dirty="0">
                          <a:solidFill>
                            <a:schemeClr val="bg1"/>
                          </a:solidFill>
                          <a:latin typeface="AzarMehr-DS1-FD Black" pitchFamily="2" charset="-78"/>
                          <a:cs typeface="AzarMehr-DS1-FD Black" pitchFamily="2" charset="-78"/>
                        </a:rPr>
                        <a:t>کتابراه</a:t>
                      </a:r>
                    </a:p>
                    <a:p>
                      <a:pPr algn="ctr" rtl="1">
                        <a:lnSpc>
                          <a:spcPct val="150000"/>
                        </a:lnSpc>
                      </a:pPr>
                      <a:r>
                        <a:rPr lang="fa-IR" sz="1100" dirty="0">
                          <a:solidFill>
                            <a:schemeClr val="bg1"/>
                          </a:solidFill>
                          <a:latin typeface="AzarMehr-DS1-FD Black" pitchFamily="2" charset="-78"/>
                          <a:cs typeface="AzarMehr-DS1-FD Black" pitchFamily="2" charset="-78"/>
                        </a:rPr>
                        <a:t>چکیدا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916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b="1" dirty="0">
                          <a:solidFill>
                            <a:schemeClr val="bg1"/>
                          </a:solidFill>
                          <a:latin typeface="AzarMehr-DS1-FD Black" pitchFamily="2" charset="-78"/>
                          <a:cs typeface="AzarMehr-DS1-FD Black" pitchFamily="2" charset="-78"/>
                        </a:rPr>
                        <a:t>منابع کلیدی</a:t>
                      </a:r>
                    </a:p>
                    <a:p>
                      <a:pPr algn="ctr" rtl="1">
                        <a:lnSpc>
                          <a:spcPct val="150000"/>
                        </a:lnSpc>
                      </a:pPr>
                      <a:r>
                        <a:rPr lang="fa-IR" sz="1100" b="1" dirty="0">
                          <a:solidFill>
                            <a:schemeClr val="bg1"/>
                          </a:solidFill>
                          <a:latin typeface="AzarMehr-DS1-FD Black" pitchFamily="2" charset="-78"/>
                          <a:cs typeface="AzarMehr-DS1-FD Black" pitchFamily="2" charset="-78"/>
                        </a:rPr>
                        <a:t>بازدید کنندگان روزانه سایت</a:t>
                      </a:r>
                    </a:p>
                    <a:p>
                      <a:pPr algn="ctr" rtl="1">
                        <a:lnSpc>
                          <a:spcPct val="150000"/>
                        </a:lnSpc>
                      </a:pPr>
                      <a:r>
                        <a:rPr lang="fa-IR" sz="1100" b="1" dirty="0">
                          <a:solidFill>
                            <a:schemeClr val="bg1"/>
                          </a:solidFill>
                          <a:latin typeface="AzarMehr-DS1-FD Black" pitchFamily="2" charset="-78"/>
                          <a:cs typeface="AzarMehr-DS1-FD Black" pitchFamily="2" charset="-78"/>
                        </a:rPr>
                        <a:t>تعداد اسپل های شرکت توسط مشتریان</a:t>
                      </a:r>
                    </a:p>
                    <a:p>
                      <a:pPr algn="ctr" rtl="1">
                        <a:lnSpc>
                          <a:spcPct val="150000"/>
                        </a:lnSpc>
                      </a:pPr>
                      <a:r>
                        <a:rPr lang="fa-IR" sz="1100" b="1" dirty="0">
                          <a:solidFill>
                            <a:schemeClr val="bg1"/>
                          </a:solidFill>
                          <a:latin typeface="AzarMehr-DS1-FD Black" pitchFamily="2" charset="-78"/>
                          <a:cs typeface="AzarMehr-DS1-FD Black" pitchFamily="2" charset="-78"/>
                        </a:rPr>
                        <a:t>فروش ماهانه محصول</a:t>
                      </a:r>
                    </a:p>
                    <a:p>
                      <a:pPr algn="ctr" rtl="1">
                        <a:lnSpc>
                          <a:spcPct val="150000"/>
                        </a:lnSpc>
                      </a:pPr>
                      <a:r>
                        <a:rPr lang="fa-IR" sz="1100" b="1" dirty="0">
                          <a:solidFill>
                            <a:schemeClr val="bg1"/>
                          </a:solidFill>
                          <a:latin typeface="AzarMehr-DS1-FD Black" pitchFamily="2" charset="-78"/>
                          <a:cs typeface="AzarMehr-DS1-FD Black" pitchFamily="2" charset="-78"/>
                        </a:rPr>
                        <a:t>تعداد کاربران فعال</a:t>
                      </a:r>
                    </a:p>
                    <a:p>
                      <a:pPr algn="ctr" rtl="1">
                        <a:lnSpc>
                          <a:spcPct val="150000"/>
                        </a:lnSpc>
                      </a:pPr>
                      <a:r>
                        <a:rPr lang="fa-IR" sz="1100" b="1" dirty="0">
                          <a:solidFill>
                            <a:schemeClr val="bg1"/>
                          </a:solidFill>
                          <a:latin typeface="AzarMehr-DS1-FD Black" pitchFamily="2" charset="-78"/>
                          <a:cs typeface="AzarMehr-DS1-FD Black" pitchFamily="2" charset="-78"/>
                        </a:rPr>
                        <a:t>تعداد کاربران جذب شده</a:t>
                      </a:r>
                    </a:p>
                    <a:p>
                      <a:pPr algn="ctr" rtl="1">
                        <a:lnSpc>
                          <a:spcPct val="150000"/>
                        </a:lnSpc>
                      </a:pPr>
                      <a:r>
                        <a:rPr lang="fa-IR" sz="1100" b="1" dirty="0">
                          <a:solidFill>
                            <a:schemeClr val="bg1"/>
                          </a:solidFill>
                          <a:latin typeface="AzarMehr-DS1-FD Black" pitchFamily="2" charset="-78"/>
                          <a:cs typeface="AzarMehr-DS1-FD Black" pitchFamily="2" charset="-78"/>
                        </a:rPr>
                        <a:t>میزان درآمد</a:t>
                      </a:r>
                      <a:endParaRPr lang="en-US" sz="1200" dirty="0">
                        <a:latin typeface="AzarMehr-DS1-FD Black" pitchFamily="2" charset="-78"/>
                        <a:cs typeface="AzarMehr-DS1-FD Black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916F4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</a:pPr>
                      <a:r>
                        <a:rPr lang="fa-IR" sz="1800" dirty="0">
                          <a:solidFill>
                            <a:schemeClr val="bg1"/>
                          </a:solidFill>
                          <a:latin typeface="AzarMehr-DS1-FD Black" pitchFamily="2" charset="-78"/>
                          <a:cs typeface="AzarMehr-DS1-FD Black" pitchFamily="2" charset="-78"/>
                        </a:rPr>
                        <a:t>کانال ها</a:t>
                      </a:r>
                    </a:p>
                    <a:p>
                      <a:pPr algn="ctr" rtl="1">
                        <a:lnSpc>
                          <a:spcPct val="150000"/>
                        </a:lnSpc>
                      </a:pPr>
                      <a:r>
                        <a:rPr lang="fa-IR" sz="1200" dirty="0">
                          <a:solidFill>
                            <a:schemeClr val="bg1"/>
                          </a:solidFill>
                          <a:latin typeface="AzarMehr-DS1-FD Black" pitchFamily="2" charset="-78"/>
                          <a:cs typeface="AzarMehr-DS1-FD Black" pitchFamily="2" charset="-78"/>
                        </a:rPr>
                        <a:t>همان تیمی</a:t>
                      </a:r>
                    </a:p>
                    <a:p>
                      <a:pPr algn="ctr" rtl="1">
                        <a:lnSpc>
                          <a:spcPct val="150000"/>
                        </a:lnSpc>
                      </a:pPr>
                      <a:r>
                        <a:rPr lang="fa-IR" sz="1200" dirty="0">
                          <a:solidFill>
                            <a:schemeClr val="bg1"/>
                          </a:solidFill>
                          <a:latin typeface="AzarMehr-DS1-FD Black" pitchFamily="2" charset="-78"/>
                          <a:cs typeface="AzarMehr-DS1-FD Black" pitchFamily="2" charset="-78"/>
                        </a:rPr>
                        <a:t>پلتفرم</a:t>
                      </a:r>
                    </a:p>
                    <a:p>
                      <a:pPr algn="ctr" rtl="1">
                        <a:lnSpc>
                          <a:spcPct val="150000"/>
                        </a:lnSpc>
                      </a:pPr>
                      <a:r>
                        <a:rPr lang="fa-IR" sz="1200" dirty="0">
                          <a:solidFill>
                            <a:schemeClr val="bg1"/>
                          </a:solidFill>
                          <a:latin typeface="AzarMehr-DS1-FD Black" pitchFamily="2" charset="-78"/>
                          <a:cs typeface="AzarMehr-DS1-FD Black" pitchFamily="2" charset="-78"/>
                        </a:rPr>
                        <a:t>دستگاه های ماشینی در مراکز</a:t>
                      </a:r>
                    </a:p>
                    <a:p>
                      <a:pPr algn="ctr" rtl="1">
                        <a:lnSpc>
                          <a:spcPct val="150000"/>
                        </a:lnSpc>
                      </a:pPr>
                      <a:r>
                        <a:rPr lang="fa-IR" sz="1200" dirty="0">
                          <a:solidFill>
                            <a:schemeClr val="bg1"/>
                          </a:solidFill>
                          <a:latin typeface="AzarMehr-DS1-FD Black" pitchFamily="2" charset="-78"/>
                          <a:cs typeface="AzarMehr-DS1-FD Black" pitchFamily="2" charset="-78"/>
                        </a:rPr>
                        <a:t>وبسایت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916F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524554"/>
                  </a:ext>
                </a:extLst>
              </a:tr>
              <a:tr h="1694102">
                <a:tc gridSpan="3">
                  <a:txBody>
                    <a:bodyPr/>
                    <a:lstStyle/>
                    <a:p>
                      <a:pPr algn="r" rtl="1"/>
                      <a:r>
                        <a:rPr lang="fa-IR" sz="1400" b="1" dirty="0">
                          <a:latin typeface="AzarMehr-DS1-FD Black" pitchFamily="2" charset="-78"/>
                          <a:cs typeface="AzarMehr-DS1-FD Black" pitchFamily="2" charset="-78"/>
                        </a:rPr>
                        <a:t>ساختار هزینه</a:t>
                      </a:r>
                    </a:p>
                    <a:p>
                      <a:pPr algn="r" rtl="1"/>
                      <a:r>
                        <a:rPr lang="fa-IR" sz="1200" b="0" dirty="0">
                          <a:latin typeface="AzarMehr-DS1-FD Black" pitchFamily="2" charset="-78"/>
                          <a:cs typeface="AzarMehr-DS1-FD Black" pitchFamily="2" charset="-78"/>
                        </a:rPr>
                        <a:t>تولید محتوای کتاب</a:t>
                      </a:r>
                    </a:p>
                    <a:p>
                      <a:pPr algn="r" rtl="1"/>
                      <a:r>
                        <a:rPr lang="fa-IR" sz="1200" b="0" dirty="0">
                          <a:latin typeface="AzarMehr-DS1-FD Black" pitchFamily="2" charset="-78"/>
                          <a:cs typeface="AzarMehr-DS1-FD Black" pitchFamily="2" charset="-78"/>
                        </a:rPr>
                        <a:t>هوش مصنوعی</a:t>
                      </a:r>
                    </a:p>
                    <a:p>
                      <a:pPr algn="r" rtl="1"/>
                      <a:r>
                        <a:rPr lang="fa-IR" sz="1200" b="0" dirty="0">
                          <a:latin typeface="AzarMehr-DS1-FD Black" pitchFamily="2" charset="-78"/>
                          <a:cs typeface="AzarMehr-DS1-FD Black" pitchFamily="2" charset="-78"/>
                        </a:rPr>
                        <a:t>وبسایت</a:t>
                      </a:r>
                    </a:p>
                    <a:p>
                      <a:pPr algn="r" rtl="1"/>
                      <a:r>
                        <a:rPr lang="fa-IR" sz="1200" b="0" dirty="0">
                          <a:latin typeface="AzarMehr-DS1-FD Black" pitchFamily="2" charset="-78"/>
                          <a:cs typeface="AzarMehr-DS1-FD Black" pitchFamily="2" charset="-78"/>
                        </a:rPr>
                        <a:t>اپ</a:t>
                      </a:r>
                    </a:p>
                    <a:p>
                      <a:pPr algn="r" rtl="1"/>
                      <a:r>
                        <a:rPr lang="fa-IR" sz="1200" b="0" dirty="0">
                          <a:latin typeface="AzarMehr-DS1-FD Black" pitchFamily="2" charset="-78"/>
                          <a:cs typeface="AzarMehr-DS1-FD Black" pitchFamily="2" charset="-78"/>
                        </a:rPr>
                        <a:t>نیرو ها</a:t>
                      </a:r>
                    </a:p>
                    <a:p>
                      <a:pPr algn="r" rtl="1"/>
                      <a:r>
                        <a:rPr lang="fa-IR" sz="1200" b="0" dirty="0">
                          <a:latin typeface="AzarMehr-DS1-FD Black" pitchFamily="2" charset="-78"/>
                          <a:cs typeface="AzarMehr-DS1-FD Black" pitchFamily="2" charset="-78"/>
                        </a:rPr>
                        <a:t>هزینه سرور</a:t>
                      </a:r>
                    </a:p>
                    <a:p>
                      <a:pPr algn="r" rtl="1"/>
                      <a:r>
                        <a:rPr lang="fa-IR" sz="1200" b="0" dirty="0">
                          <a:latin typeface="AzarMehr-DS1-FD Black" pitchFamily="2" charset="-78"/>
                          <a:cs typeface="AzarMehr-DS1-FD Black" pitchFamily="2" charset="-78"/>
                        </a:rPr>
                        <a:t>هزینه چاپ تایپوگرافی</a:t>
                      </a:r>
                      <a:endParaRPr lang="en-US" sz="1200" b="0" dirty="0">
                        <a:latin typeface="AzarMehr-DS1-FD Black" pitchFamily="2" charset="-78"/>
                        <a:cs typeface="AzarMehr-DS1-FD Black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3">
                  <a:txBody>
                    <a:bodyPr/>
                    <a:lstStyle/>
                    <a:p>
                      <a:pPr algn="r" rtl="1"/>
                      <a:r>
                        <a:rPr lang="fa-IR" sz="1600" b="1" dirty="0">
                          <a:latin typeface="AzarMehr-DS1-FD Black" pitchFamily="2" charset="-78"/>
                          <a:cs typeface="AzarMehr-DS1-FD Black" pitchFamily="2" charset="-78"/>
                        </a:rPr>
                        <a:t>جریانات درآمدی</a:t>
                      </a:r>
                    </a:p>
                    <a:p>
                      <a:pPr algn="r" rtl="1">
                        <a:spcBef>
                          <a:spcPts val="160"/>
                        </a:spcBef>
                      </a:pPr>
                      <a:r>
                        <a:rPr lang="fa-IR" sz="1200" b="0" dirty="0">
                          <a:latin typeface="AzarMehr-DS1-FD Black" pitchFamily="2" charset="-78"/>
                          <a:cs typeface="AzarMehr-DS1-FD Black" pitchFamily="2" charset="-78"/>
                        </a:rPr>
                        <a:t>درصدی از  فروش کتاب صوتی</a:t>
                      </a:r>
                    </a:p>
                    <a:p>
                      <a:pPr algn="r" rtl="1">
                        <a:spcBef>
                          <a:spcPts val="160"/>
                        </a:spcBef>
                      </a:pPr>
                      <a:r>
                        <a:rPr lang="fa-IR" sz="1200" b="0" dirty="0">
                          <a:latin typeface="AzarMehr-DS1-FD Black" pitchFamily="2" charset="-78"/>
                          <a:cs typeface="AzarMehr-DS1-FD Black" pitchFamily="2" charset="-78"/>
                        </a:rPr>
                        <a:t>تبلیغات</a:t>
                      </a:r>
                      <a:endParaRPr lang="en-US" sz="1200" b="0" dirty="0">
                        <a:latin typeface="AzarMehr-DS1-FD Black" pitchFamily="2" charset="-78"/>
                        <a:cs typeface="AzarMehr-DS1-FD Black" pitchFamily="2" charset="-78"/>
                      </a:endParaRPr>
                    </a:p>
                    <a:p>
                      <a:pPr algn="r" rtl="1">
                        <a:spcBef>
                          <a:spcPts val="160"/>
                        </a:spcBef>
                      </a:pPr>
                      <a:r>
                        <a:rPr lang="fa-IR" sz="1200" dirty="0">
                          <a:solidFill>
                            <a:schemeClr val="tx1"/>
                          </a:solidFill>
                          <a:effectLst/>
                          <a:latin typeface="AzarMehr-DS1-FD Black" pitchFamily="2" charset="-78"/>
                          <a:cs typeface="AzarMehr-DS1-FD Black" pitchFamily="2" charset="-78"/>
                        </a:rPr>
                        <a:t>اشتراک های برنزی نقره ای و طلایی و الماسی کتابخوان تلاشگر (ماهانه/کاربر)</a:t>
                      </a:r>
                    </a:p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16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200" dirty="0">
                          <a:solidFill>
                            <a:schemeClr val="tx1"/>
                          </a:solidFill>
                          <a:effectLst/>
                          <a:latin typeface="AzarMehr-DS1-FD Black" pitchFamily="2" charset="-78"/>
                          <a:cs typeface="AzarMehr-DS1-FD Black" pitchFamily="2" charset="-78"/>
                        </a:rPr>
                        <a:t>فروش تایپوگرافی به صورت فیزیکی</a:t>
                      </a:r>
                    </a:p>
                    <a:p>
                      <a:pPr algn="r" rtl="1">
                        <a:spcBef>
                          <a:spcPts val="160"/>
                        </a:spcBef>
                      </a:pPr>
                      <a:r>
                        <a:rPr lang="fa-IR" sz="1200" b="0" dirty="0">
                          <a:latin typeface="AzarMehr-DS1-FD Black" pitchFamily="2" charset="-78"/>
                          <a:cs typeface="AzarMehr-DS1-FD Black" pitchFamily="2" charset="-78"/>
                        </a:rPr>
                        <a:t>قرارداد با ارگان ها و سازمان ها</a:t>
                      </a:r>
                      <a:endParaRPr lang="en-US" sz="1200" b="0" dirty="0">
                        <a:latin typeface="AzarMehr-DS1-FD Black" pitchFamily="2" charset="-78"/>
                        <a:cs typeface="AzarMehr-DS1-FD Black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421055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02452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B257274-1111-25E3-D2EE-0123466A34A7}"/>
              </a:ext>
            </a:extLst>
          </p:cNvPr>
          <p:cNvSpPr/>
          <p:nvPr/>
        </p:nvSpPr>
        <p:spPr>
          <a:xfrm>
            <a:off x="3200400" y="1828800"/>
            <a:ext cx="8126084" cy="258792"/>
          </a:xfrm>
          <a:prstGeom prst="rect">
            <a:avLst/>
          </a:prstGeom>
          <a:solidFill>
            <a:srgbClr val="010D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D6DFE4-71C0-782A-EED1-DEDBC6C12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5B77C4C-68A0-BF3F-123E-2ECAAC422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2368" y="266677"/>
            <a:ext cx="7420819" cy="777363"/>
          </a:xfrm>
        </p:spPr>
        <p:txBody>
          <a:bodyPr/>
          <a:lstStyle/>
          <a:p>
            <a:pPr algn="r" rtl="1"/>
            <a:r>
              <a:rPr lang="fa-IR" b="1" dirty="0">
                <a:latin typeface="Sahel" panose="020B0603030804020204" pitchFamily="34" charset="-78"/>
                <a:cs typeface="Sahel" panose="020B0603030804020204" pitchFamily="34" charset="-78"/>
              </a:rPr>
              <a:t>استراتژی رشد</a:t>
            </a:r>
            <a:endParaRPr lang="en-US" b="1" dirty="0">
              <a:latin typeface="Sahel" panose="020B0603030804020204" pitchFamily="34" charset="-78"/>
              <a:cs typeface="Sahel" panose="020B0603030804020204" pitchFamily="34" charset="-78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A5269B-2D5D-ACEE-6A03-552C82A533B6}"/>
              </a:ext>
            </a:extLst>
          </p:cNvPr>
          <p:cNvSpPr/>
          <p:nvPr/>
        </p:nvSpPr>
        <p:spPr>
          <a:xfrm>
            <a:off x="3338423" y="1210227"/>
            <a:ext cx="7988061" cy="27432"/>
          </a:xfrm>
          <a:prstGeom prst="rect">
            <a:avLst/>
          </a:prstGeom>
          <a:solidFill>
            <a:srgbClr val="940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F8D44D-6180-3A6F-0858-19271A4B4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0671" y="1662638"/>
            <a:ext cx="8842076" cy="73976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A6594-F66B-F771-9DB7-2242B53EAB66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115647" y="1662638"/>
            <a:ext cx="8295589" cy="4661024"/>
          </a:xfrm>
        </p:spPr>
        <p:txBody>
          <a:bodyPr/>
          <a:lstStyle/>
          <a:p>
            <a:pPr algn="r" rtl="1"/>
            <a:r>
              <a:rPr lang="fa-IR" sz="1600" b="1" dirty="0">
                <a:latin typeface="KalamehFaNum" pitchFamily="2" charset="-78"/>
                <a:cs typeface="KalamehFaNum" pitchFamily="2" charset="-78"/>
              </a:rPr>
              <a:t>ورود به حوزه کودک -&gt; </a:t>
            </a:r>
            <a:r>
              <a:rPr lang="fa-IR" sz="1600" dirty="0">
                <a:latin typeface="KalamehFaNum" pitchFamily="2" charset="-78"/>
                <a:cs typeface="KalamehFaNum" pitchFamily="2" charset="-78"/>
              </a:rPr>
              <a:t>بزرگ‌ترین بازار موجود در کشور برای تولید محتوا (سال 1406)</a:t>
            </a:r>
          </a:p>
          <a:p>
            <a:pPr algn="r" rtl="1"/>
            <a:r>
              <a:rPr lang="fa-IR" sz="1600" b="1" dirty="0">
                <a:latin typeface="KalamehFaNum" pitchFamily="2" charset="-78"/>
                <a:cs typeface="KalamehFaNum" pitchFamily="2" charset="-78"/>
              </a:rPr>
              <a:t>تولید کتاب‌های صوتی بین‌المللی -&gt;</a:t>
            </a:r>
            <a:r>
              <a:rPr lang="fa-IR" sz="1600" dirty="0">
                <a:latin typeface="KalamehFaNum" pitchFamily="2" charset="-78"/>
                <a:cs typeface="KalamehFaNum" pitchFamily="2" charset="-78"/>
              </a:rPr>
              <a:t> فارسی برای ایرانیان خارج از کشور و محتوای زبان‌های خارجی برای بازارهای جهانی (سال 1406)</a:t>
            </a:r>
          </a:p>
          <a:p>
            <a:pPr algn="r" rtl="1"/>
            <a:r>
              <a:rPr lang="fa-IR" sz="1600" b="1" dirty="0">
                <a:latin typeface="KalamehFaNum" pitchFamily="2" charset="-78"/>
                <a:cs typeface="KalamehFaNum" pitchFamily="2" charset="-78"/>
              </a:rPr>
              <a:t>قابلیت مکالمه چند محوره -&gt; </a:t>
            </a:r>
            <a:r>
              <a:rPr lang="fa-IR" sz="1600" dirty="0">
                <a:latin typeface="KalamehFaNum" pitchFamily="2" charset="-78"/>
                <a:cs typeface="KalamehFaNum" pitchFamily="2" charset="-78"/>
              </a:rPr>
              <a:t>جلسات پخش زنده کتاب صوتی همراه با تعامل مستقیم کاربران (سال 1408)</a:t>
            </a:r>
          </a:p>
          <a:p>
            <a:pPr algn="r" rtl="1"/>
            <a:r>
              <a:rPr lang="fa-IR" sz="1600" b="1" dirty="0">
                <a:latin typeface="KalamehFaNum" pitchFamily="2" charset="-78"/>
                <a:cs typeface="KalamehFaNum" pitchFamily="2" charset="-78"/>
              </a:rPr>
              <a:t>ایجاد پکیج‌های صوتی مدیتیشن و خودیاری -&gt; </a:t>
            </a:r>
            <a:r>
              <a:rPr lang="fa-IR" sz="1600" dirty="0">
                <a:latin typeface="KalamehFaNum" pitchFamily="2" charset="-78"/>
                <a:cs typeface="KalamehFaNum" pitchFamily="2" charset="-78"/>
              </a:rPr>
              <a:t>کتاب‌های انگیزشی، جملات تأکیدی و موسیقی آرامش‌بخش مخصوص کاهش استرس و آرامش (سال 1405)</a:t>
            </a:r>
            <a:endParaRPr lang="fa-IR" sz="1600" b="1" dirty="0">
              <a:latin typeface="KalamehFaNum" pitchFamily="2" charset="-78"/>
              <a:cs typeface="KalamehFaNum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5981541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83E06-8BEA-1DD3-D0D6-391C08880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680" y="1069674"/>
            <a:ext cx="10500989" cy="688271"/>
          </a:xfrm>
        </p:spPr>
        <p:txBody>
          <a:bodyPr/>
          <a:lstStyle/>
          <a:p>
            <a:pPr algn="r" rtl="1"/>
            <a:r>
              <a:rPr lang="fa-IR" b="1" dirty="0">
                <a:latin typeface="Sahel" panose="020B0603030804020204" pitchFamily="34" charset="-78"/>
                <a:cs typeface="Sahel" panose="020B0603030804020204" pitchFamily="34" charset="-78"/>
              </a:rPr>
              <a:t>استراتژی رشد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175D3-F3DC-695F-474B-346EDCA5D60F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6957290" y="2295221"/>
            <a:ext cx="3774587" cy="3723753"/>
          </a:xfrm>
        </p:spPr>
        <p:txBody>
          <a:bodyPr/>
          <a:lstStyle/>
          <a:p>
            <a:pPr algn="r" rtl="1">
              <a:lnSpc>
                <a:spcPct val="150000"/>
              </a:lnSpc>
            </a:pPr>
            <a:r>
              <a:rPr lang="fa-IR" sz="1600" b="1" dirty="0">
                <a:latin typeface="KalamehFaNum" pitchFamily="2" charset="-78"/>
                <a:cs typeface="KalamehFaNum" pitchFamily="2" charset="-78"/>
              </a:rPr>
              <a:t>بخش گیمیفیکیشن (سال 1405)</a:t>
            </a:r>
            <a:endParaRPr lang="en-US" sz="1600" b="1" dirty="0">
              <a:latin typeface="KalamehFaNum" pitchFamily="2" charset="-78"/>
              <a:cs typeface="KalamehFaNum" pitchFamily="2" charset="-78"/>
            </a:endParaRPr>
          </a:p>
          <a:p>
            <a:pPr algn="r" rtl="1">
              <a:lnSpc>
                <a:spcPct val="150000"/>
              </a:lnSpc>
            </a:pPr>
            <a:endParaRPr lang="en-US" sz="900" b="1" dirty="0">
              <a:latin typeface="KalamehFaNum" pitchFamily="2" charset="-78"/>
              <a:cs typeface="KalamehFaNum" pitchFamily="2" charset="-78"/>
            </a:endParaRPr>
          </a:p>
          <a:p>
            <a:pPr algn="r" rtl="1">
              <a:lnSpc>
                <a:spcPct val="150000"/>
              </a:lnSpc>
            </a:pPr>
            <a:endParaRPr lang="en-US" sz="900" b="1" dirty="0">
              <a:latin typeface="KalamehFaNum" pitchFamily="2" charset="-78"/>
              <a:cs typeface="KalamehFaNum" pitchFamily="2" charset="-78"/>
            </a:endParaRPr>
          </a:p>
          <a:p>
            <a:pPr algn="r" rtl="1">
              <a:lnSpc>
                <a:spcPct val="150000"/>
              </a:lnSpc>
            </a:pPr>
            <a:endParaRPr lang="en-US" sz="1600" b="1" dirty="0">
              <a:latin typeface="KalamehFaNum" pitchFamily="2" charset="-78"/>
              <a:cs typeface="KalamehFaNum" pitchFamily="2" charset="-78"/>
            </a:endParaRPr>
          </a:p>
          <a:p>
            <a:pPr algn="r" rtl="1">
              <a:lnSpc>
                <a:spcPct val="150000"/>
              </a:lnSpc>
            </a:pPr>
            <a:r>
              <a:rPr lang="fa-IR" sz="1600" b="1" dirty="0">
                <a:latin typeface="KalamehFaNum" pitchFamily="2" charset="-78"/>
                <a:cs typeface="KalamehFaNum" pitchFamily="2" charset="-78"/>
              </a:rPr>
              <a:t>امکان ضبط پادکست شخصی(سال 1406)</a:t>
            </a:r>
            <a:endParaRPr lang="en-US" sz="1600" b="1" dirty="0">
              <a:latin typeface="KalamehFaNum" pitchFamily="2" charset="-78"/>
              <a:cs typeface="KalamehFaNum" pitchFamily="2" charset="-78"/>
            </a:endParaRPr>
          </a:p>
          <a:p>
            <a:pPr algn="r" rtl="1">
              <a:lnSpc>
                <a:spcPct val="150000"/>
              </a:lnSpc>
            </a:pPr>
            <a:r>
              <a:rPr lang="fa-IR" sz="1600" b="1" dirty="0">
                <a:latin typeface="KalamehFaNum" pitchFamily="2" charset="-78"/>
                <a:cs typeface="KalamehFaNum" pitchFamily="2" charset="-78"/>
              </a:rPr>
              <a:t>سیستم تحلیل احساسات کاربران(1404)</a:t>
            </a:r>
            <a:endParaRPr lang="en-US" sz="1600" b="1" dirty="0">
              <a:latin typeface="KalamehFaNum" pitchFamily="2" charset="-78"/>
              <a:cs typeface="KalamehFaNum" pitchFamily="2" charset="-78"/>
            </a:endParaRPr>
          </a:p>
          <a:p>
            <a:pPr algn="r" rtl="1">
              <a:lnSpc>
                <a:spcPct val="150000"/>
              </a:lnSpc>
            </a:pPr>
            <a:r>
              <a:rPr lang="fa-IR" sz="1600" b="1" dirty="0">
                <a:latin typeface="KalamehFaNum" pitchFamily="2" charset="-78"/>
                <a:cs typeface="KalamehFaNum" pitchFamily="2" charset="-78"/>
              </a:rPr>
              <a:t>افزودن قابلیت جستجوی صوتی(1408)</a:t>
            </a:r>
            <a:endParaRPr lang="en-US" sz="1600" b="1" dirty="0">
              <a:latin typeface="KalamehFaNum" pitchFamily="2" charset="-78"/>
              <a:cs typeface="KalamehFaNum" pitchFamily="2" charset="-78"/>
            </a:endParaRPr>
          </a:p>
          <a:p>
            <a:pPr algn="r" rtl="1">
              <a:lnSpc>
                <a:spcPct val="150000"/>
              </a:lnSpc>
            </a:pPr>
            <a:r>
              <a:rPr lang="fa-IR" sz="1600" b="1" dirty="0">
                <a:latin typeface="KalamehFaNum" pitchFamily="2" charset="-78"/>
                <a:cs typeface="KalamehFaNum" pitchFamily="2" charset="-78"/>
              </a:rPr>
              <a:t>استفاده از دستیار صوتی(1408)</a:t>
            </a:r>
            <a:endParaRPr lang="en-US" sz="1600" b="1" dirty="0">
              <a:latin typeface="KalamehFaNum" pitchFamily="2" charset="-78"/>
              <a:cs typeface="KalamehFaNum" pitchFamily="2" charset="-78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70D91C-D5C0-248C-26D3-DE7C7C72E632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-37570" y="2281986"/>
            <a:ext cx="6994860" cy="3723753"/>
          </a:xfrm>
        </p:spPr>
        <p:txBody>
          <a:bodyPr/>
          <a:lstStyle/>
          <a:p>
            <a:pPr lvl="1" algn="r" rtl="1"/>
            <a:r>
              <a:rPr lang="fa-IR" sz="1600" dirty="0">
                <a:effectLst/>
                <a:latin typeface="KalamehFaNum" pitchFamily="2" charset="-78"/>
                <a:cs typeface="KalamehFaNum" pitchFamily="2" charset="-78"/>
              </a:rPr>
              <a:t>رقابت و چالش‌های ماهانه و هفتگی کتابخوانی</a:t>
            </a:r>
          </a:p>
          <a:p>
            <a:pPr lvl="1" algn="r" rtl="1"/>
            <a:r>
              <a:rPr lang="fa-IR" sz="1600" dirty="0">
                <a:effectLst/>
                <a:latin typeface="KalamehFaNum" pitchFamily="2" charset="-78"/>
                <a:cs typeface="KalamehFaNum" pitchFamily="2" charset="-78"/>
              </a:rPr>
              <a:t>نمایش آمار ساعات مطالعه و زمان استفاده</a:t>
            </a:r>
          </a:p>
          <a:p>
            <a:pPr lvl="1" algn="r" rtl="1"/>
            <a:r>
              <a:rPr lang="fa-IR" sz="1600" dirty="0">
                <a:effectLst/>
                <a:latin typeface="KalamehFaNum" pitchFamily="2" charset="-78"/>
                <a:cs typeface="KalamehFaNum" pitchFamily="2" charset="-78"/>
              </a:rPr>
              <a:t>تعریف دستاوردها (</a:t>
            </a:r>
            <a:r>
              <a:rPr lang="en-US" sz="1600" dirty="0">
                <a:effectLst/>
                <a:latin typeface="KalamehFaNum" pitchFamily="2" charset="-78"/>
                <a:cs typeface="KalamehFaNum" pitchFamily="2" charset="-78"/>
              </a:rPr>
              <a:t>Achievements</a:t>
            </a:r>
            <a:r>
              <a:rPr lang="fa-IR" sz="1600" dirty="0">
                <a:effectLst/>
                <a:latin typeface="KalamehFaNum" pitchFamily="2" charset="-78"/>
                <a:cs typeface="KalamehFaNum" pitchFamily="2" charset="-78"/>
              </a:rPr>
              <a:t>)</a:t>
            </a:r>
            <a:endParaRPr lang="en-US" sz="1600" dirty="0">
              <a:effectLst/>
              <a:latin typeface="KalamehFaNum" pitchFamily="2" charset="-78"/>
              <a:cs typeface="KalamehFaNum" pitchFamily="2" charset="-78"/>
            </a:endParaRPr>
          </a:p>
          <a:p>
            <a:pPr lvl="1" algn="r" rtl="1"/>
            <a:r>
              <a:rPr lang="fa-IR" sz="1600" dirty="0">
                <a:effectLst/>
                <a:latin typeface="KalamehFaNum" pitchFamily="2" charset="-78"/>
                <a:cs typeface="KalamehFaNum" pitchFamily="2" charset="-78"/>
              </a:rPr>
              <a:t>استفاده از نمودارها و انیمیشن‌های انگیزشی</a:t>
            </a:r>
          </a:p>
          <a:p>
            <a:pPr algn="r" rtl="1">
              <a:lnSpc>
                <a:spcPct val="150000"/>
              </a:lnSpc>
            </a:pPr>
            <a:r>
              <a:rPr lang="fa-IR" sz="1600" dirty="0">
                <a:latin typeface="KalamehFaNum" pitchFamily="2" charset="-78"/>
                <a:cs typeface="KalamehFaNum" pitchFamily="2" charset="-78"/>
              </a:rPr>
              <a:t>ایجاد ابزارهایی برای ضبط، ویرایش و انتشار پادکست توسط کاربران</a:t>
            </a:r>
          </a:p>
          <a:p>
            <a:pPr algn="r" rtl="1">
              <a:lnSpc>
                <a:spcPct val="150000"/>
              </a:lnSpc>
            </a:pPr>
            <a:r>
              <a:rPr lang="fa-IR" sz="1600" dirty="0">
                <a:latin typeface="KalamehFaNum" pitchFamily="2" charset="-78"/>
                <a:cs typeface="KalamehFaNum" pitchFamily="2" charset="-78"/>
              </a:rPr>
              <a:t>استفاده از هوش مصنوعی برای تحلیل نظرات و بازخورد کاربران</a:t>
            </a:r>
          </a:p>
          <a:p>
            <a:pPr algn="r" rtl="1">
              <a:lnSpc>
                <a:spcPct val="150000"/>
              </a:lnSpc>
            </a:pPr>
            <a:r>
              <a:rPr lang="fa-IR" sz="1600" dirty="0">
                <a:latin typeface="KalamehFaNum" pitchFamily="2" charset="-78"/>
                <a:cs typeface="KalamehFaNum" pitchFamily="2" charset="-78"/>
              </a:rPr>
              <a:t>امکان جستجوی کتاب‌ها و پادکست‌ها با فرمان صوتی</a:t>
            </a:r>
          </a:p>
          <a:p>
            <a:pPr algn="r" rtl="1">
              <a:lnSpc>
                <a:spcPct val="150000"/>
              </a:lnSpc>
            </a:pPr>
            <a:r>
              <a:rPr lang="fa-IR" sz="1600" dirty="0">
                <a:latin typeface="KalamehFaNum" pitchFamily="2" charset="-78"/>
                <a:cs typeface="KalamehFaNum" pitchFamily="2" charset="-78"/>
              </a:rPr>
              <a:t>دستیار صوتی برای پخش، توقف و اجرای کتاب ها و پادکست های مختلف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7B8B6A-2B28-5C38-80E7-0EBE705FF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73014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0AA79-4B1C-A7FD-6AEB-D3044A5C2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b="1" dirty="0">
                <a:latin typeface="Sahel" panose="020B0603030804020204" pitchFamily="34" charset="-78"/>
                <a:cs typeface="Sahel" panose="020B0603030804020204" pitchFamily="34" charset="-78"/>
              </a:rPr>
              <a:t>پیش بینی هزینه ها و درآمد ها</a:t>
            </a:r>
            <a:endParaRPr lang="en-US" b="1" dirty="0">
              <a:latin typeface="Sahel" panose="020B0603030804020204" pitchFamily="34" charset="-78"/>
              <a:cs typeface="Sahel" panose="020B0603030804020204" pitchFamily="34" charset="-78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939FFB-74E8-ACDB-C2A6-4165F9BC9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C1FBF48-9D0F-7C8B-E628-1BB1F9210FEB}"/>
              </a:ext>
            </a:extLst>
          </p:cNvPr>
          <p:cNvSpPr txBox="1"/>
          <p:nvPr/>
        </p:nvSpPr>
        <p:spPr>
          <a:xfrm>
            <a:off x="7268503" y="5702583"/>
            <a:ext cx="3741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fa-IR" b="1" dirty="0">
                <a:solidFill>
                  <a:schemeClr val="bg2">
                    <a:lumMod val="90000"/>
                  </a:schemeClr>
                </a:solidFill>
                <a:latin typeface="KalamehFaNum" pitchFamily="2" charset="-78"/>
                <a:cs typeface="KalamehFaNum" pitchFamily="2" charset="-78"/>
              </a:rPr>
              <a:t>نرخ دلار در نظر گرفته شده: </a:t>
            </a:r>
            <a:r>
              <a:rPr lang="en-US" b="1">
                <a:solidFill>
                  <a:schemeClr val="bg2">
                    <a:lumMod val="90000"/>
                  </a:schemeClr>
                </a:solidFill>
                <a:latin typeface="KalamehFaNum" pitchFamily="2" charset="-78"/>
                <a:cs typeface="KalamehFaNum" pitchFamily="2" charset="-78"/>
              </a:rPr>
              <a:t>110,000</a:t>
            </a:r>
            <a:r>
              <a:rPr lang="fa-IR" b="1" dirty="0">
                <a:solidFill>
                  <a:schemeClr val="bg2">
                    <a:lumMod val="90000"/>
                  </a:schemeClr>
                </a:solidFill>
                <a:latin typeface="KalamehFaNum" pitchFamily="2" charset="-78"/>
                <a:cs typeface="KalamehFaNum" pitchFamily="2" charset="-78"/>
              </a:rPr>
              <a:t> تومان</a:t>
            </a:r>
            <a:endParaRPr lang="en-US" b="1" dirty="0">
              <a:solidFill>
                <a:schemeClr val="bg2">
                  <a:lumMod val="90000"/>
                </a:schemeClr>
              </a:solidFill>
              <a:latin typeface="KalamehFaNum" pitchFamily="2" charset="-78"/>
              <a:cs typeface="KalamehFaNum" pitchFamily="2" charset="-78"/>
            </a:endParaRP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C6ED569E-335A-B24E-AD50-E97F630C4E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8344251"/>
              </p:ext>
            </p:extLst>
          </p:nvPr>
        </p:nvGraphicFramePr>
        <p:xfrm>
          <a:off x="1701477" y="2253965"/>
          <a:ext cx="4870968" cy="4427008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2435484">
                  <a:extLst>
                    <a:ext uri="{9D8B030D-6E8A-4147-A177-3AD203B41FA5}">
                      <a16:colId xmlns:a16="http://schemas.microsoft.com/office/drawing/2014/main" val="3114463640"/>
                    </a:ext>
                  </a:extLst>
                </a:gridCol>
                <a:gridCol w="2435484">
                  <a:extLst>
                    <a:ext uri="{9D8B030D-6E8A-4147-A177-3AD203B41FA5}">
                      <a16:colId xmlns:a16="http://schemas.microsoft.com/office/drawing/2014/main" val="1672217397"/>
                    </a:ext>
                  </a:extLst>
                </a:gridCol>
              </a:tblGrid>
              <a:tr h="477284">
                <a:tc>
                  <a:txBody>
                    <a:bodyPr/>
                    <a:lstStyle/>
                    <a:p>
                      <a:pPr algn="r" rtl="1"/>
                      <a:r>
                        <a:rPr lang="fa-IR" sz="1400" b="1" dirty="0">
                          <a:solidFill>
                            <a:schemeClr val="bg1"/>
                          </a:solidFill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هزینه‌ها</a:t>
                      </a:r>
                      <a:endParaRPr lang="fa-IR" sz="1400" dirty="0">
                        <a:solidFill>
                          <a:schemeClr val="bg1"/>
                        </a:solidFill>
                        <a:effectLst/>
                        <a:latin typeface="KalamehFaNum" pitchFamily="2" charset="-78"/>
                        <a:cs typeface="KalamehFaNum" pitchFamily="2" charset="-78"/>
                      </a:endParaRPr>
                    </a:p>
                  </a:txBody>
                  <a:tcPr marL="23274" marR="23274" marT="23274" marB="2327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fa-IR" sz="1400" b="1" dirty="0">
                          <a:solidFill>
                            <a:schemeClr val="bg1"/>
                          </a:solidFill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حدود قیمت (تومان)</a:t>
                      </a:r>
                      <a:endParaRPr lang="fa-IR" sz="1400" dirty="0">
                        <a:solidFill>
                          <a:schemeClr val="bg1"/>
                        </a:solidFill>
                        <a:effectLst/>
                        <a:latin typeface="KalamehFaNum" pitchFamily="2" charset="-78"/>
                        <a:cs typeface="KalamehFaNum" pitchFamily="2" charset="-78"/>
                      </a:endParaRPr>
                    </a:p>
                  </a:txBody>
                  <a:tcPr marL="23274" marR="23274" marT="23274" marB="2327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78039616"/>
                  </a:ext>
                </a:extLst>
              </a:tr>
              <a:tr h="477284">
                <a:tc>
                  <a:txBody>
                    <a:bodyPr/>
                    <a:lstStyle/>
                    <a:p>
                      <a:pPr algn="r" rtl="1"/>
                      <a:r>
                        <a:rPr lang="fa-IR" sz="1400" dirty="0">
                          <a:solidFill>
                            <a:schemeClr val="tx1"/>
                          </a:solidFill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هزینه سالیانه سرور</a:t>
                      </a:r>
                    </a:p>
                  </a:txBody>
                  <a:tcPr marL="23274" marR="23274" marT="23274" marB="2327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fa-IR" sz="1400" dirty="0">
                          <a:solidFill>
                            <a:schemeClr val="tx1"/>
                          </a:solidFill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۳۰,۰۰۰,۰۰۰ تا ۵۰,۰۰۰,۰۰۰</a:t>
                      </a:r>
                    </a:p>
                  </a:txBody>
                  <a:tcPr marL="23274" marR="23274" marT="23274" marB="2327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22505218"/>
                  </a:ext>
                </a:extLst>
              </a:tr>
              <a:tr h="477284">
                <a:tc>
                  <a:txBody>
                    <a:bodyPr/>
                    <a:lstStyle/>
                    <a:p>
                      <a:pPr algn="r" rtl="1"/>
                      <a:r>
                        <a:rPr lang="fa-IR" sz="1400">
                          <a:solidFill>
                            <a:schemeClr val="tx1"/>
                          </a:solidFill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هزینه سالیانه دامنه</a:t>
                      </a:r>
                    </a:p>
                  </a:txBody>
                  <a:tcPr marL="23274" marR="23274" marT="23274" marB="2327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fa-IR" sz="1400" dirty="0">
                          <a:solidFill>
                            <a:schemeClr val="tx1"/>
                          </a:solidFill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۲,۰۰۰,۰۰۰ تا ۵,۰۰۰,۰۰۰</a:t>
                      </a:r>
                    </a:p>
                  </a:txBody>
                  <a:tcPr marL="23274" marR="23274" marT="23274" marB="2327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4700269"/>
                  </a:ext>
                </a:extLst>
              </a:tr>
              <a:tr h="542172">
                <a:tc>
                  <a:txBody>
                    <a:bodyPr/>
                    <a:lstStyle/>
                    <a:p>
                      <a:pPr algn="r" rtl="1"/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Api </a:t>
                      </a:r>
                      <a:r>
                        <a:rPr lang="fa-IR" sz="1400" dirty="0">
                          <a:solidFill>
                            <a:schemeClr val="tx1"/>
                          </a:solidFill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چت‌بات (سالانه)</a:t>
                      </a:r>
                    </a:p>
                  </a:txBody>
                  <a:tcPr marL="23274" marR="23274" marT="23274" marB="2327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fa-IR" sz="1400" dirty="0">
                          <a:solidFill>
                            <a:schemeClr val="tx1"/>
                          </a:solidFill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۱۵۰ دلار ≈ ۱۲,۰۰۰,۰۰۰</a:t>
                      </a:r>
                    </a:p>
                  </a:txBody>
                  <a:tcPr marL="23274" marR="23274" marT="23274" marB="2327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22041228"/>
                  </a:ext>
                </a:extLst>
              </a:tr>
              <a:tr h="605824">
                <a:tc>
                  <a:txBody>
                    <a:bodyPr/>
                    <a:lstStyle/>
                    <a:p>
                      <a:pPr algn="r" rtl="1"/>
                      <a:r>
                        <a:rPr lang="fa-IR" sz="1400">
                          <a:solidFill>
                            <a:schemeClr val="tx1"/>
                          </a:solidFill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هزینه‌های طراحی اولیه</a:t>
                      </a:r>
                    </a:p>
                  </a:txBody>
                  <a:tcPr marL="23274" marR="23274" marT="23274" marB="2327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fa-IR" sz="1400" dirty="0">
                          <a:solidFill>
                            <a:schemeClr val="tx1"/>
                          </a:solidFill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۲۰,۰۰۰,۰۰۰ تا ۴۰,۰۰۰,۰۰۰</a:t>
                      </a:r>
                    </a:p>
                  </a:txBody>
                  <a:tcPr marL="23274" marR="23274" marT="23274" marB="2327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08145679"/>
                  </a:ext>
                </a:extLst>
              </a:tr>
              <a:tr h="605824">
                <a:tc>
                  <a:txBody>
                    <a:bodyPr/>
                    <a:lstStyle/>
                    <a:p>
                      <a:pPr algn="r" rtl="1"/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Api </a:t>
                      </a:r>
                      <a:r>
                        <a:rPr lang="fa-IR" sz="1400" dirty="0">
                          <a:solidFill>
                            <a:schemeClr val="tx1"/>
                          </a:solidFill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طراحی تصویر درباره جمله کلیدی (سالانه)</a:t>
                      </a:r>
                    </a:p>
                  </a:txBody>
                  <a:tcPr marL="23274" marR="23274" marT="23274" marB="2327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fa-IR" sz="1400" dirty="0">
                          <a:solidFill>
                            <a:schemeClr val="tx1"/>
                          </a:solidFill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۲۰۰ دلار ≈ ۱۶,۰۰۰,۰۰۰</a:t>
                      </a:r>
                    </a:p>
                  </a:txBody>
                  <a:tcPr marL="23274" marR="23274" marT="23274" marB="2327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59501542"/>
                  </a:ext>
                </a:extLst>
              </a:tr>
              <a:tr h="605824">
                <a:tc>
                  <a:txBody>
                    <a:bodyPr/>
                    <a:lstStyle/>
                    <a:p>
                      <a:pPr algn="r" rtl="1"/>
                      <a:r>
                        <a:rPr lang="fa-IR" sz="1400">
                          <a:solidFill>
                            <a:schemeClr val="tx1"/>
                          </a:solidFill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هزینه 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api </a:t>
                      </a:r>
                      <a:r>
                        <a:rPr lang="fa-IR" sz="1400">
                          <a:solidFill>
                            <a:schemeClr val="tx1"/>
                          </a:solidFill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دریافت برنامه مطالعاتی (سالانه)</a:t>
                      </a:r>
                    </a:p>
                  </a:txBody>
                  <a:tcPr marL="23274" marR="23274" marT="23274" marB="2327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fa-IR" sz="1400" dirty="0">
                          <a:solidFill>
                            <a:schemeClr val="tx1"/>
                          </a:solidFill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۱۰۰ دلار ≈ ۸,۰۰۰,۰۰۰</a:t>
                      </a:r>
                    </a:p>
                  </a:txBody>
                  <a:tcPr marL="23274" marR="23274" marT="23274" marB="2327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77128201"/>
                  </a:ext>
                </a:extLst>
              </a:tr>
              <a:tr h="635512">
                <a:tc>
                  <a:txBody>
                    <a:bodyPr/>
                    <a:lstStyle/>
                    <a:p>
                      <a:pPr algn="r" rtl="1"/>
                      <a:r>
                        <a:rPr lang="fa-IR" sz="1400" dirty="0">
                          <a:solidFill>
                            <a:schemeClr val="tx1"/>
                          </a:solidFill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هزینه طراحی بنر برای سایت</a:t>
                      </a:r>
                    </a:p>
                  </a:txBody>
                  <a:tcPr marL="23274" marR="23274" marT="23274" marB="2327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fa-IR" sz="1400" dirty="0">
                          <a:solidFill>
                            <a:schemeClr val="tx1"/>
                          </a:solidFill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۳,۰۰۰,۰۰۰ تا ۶,۰۰۰,۰۰۰</a:t>
                      </a:r>
                    </a:p>
                  </a:txBody>
                  <a:tcPr marL="23274" marR="23274" marT="23274" marB="2327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96907782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30878B46-93E3-C2DE-545C-0FF7C355B8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9743708"/>
              </p:ext>
            </p:extLst>
          </p:nvPr>
        </p:nvGraphicFramePr>
        <p:xfrm>
          <a:off x="6705487" y="2253965"/>
          <a:ext cx="4870968" cy="272256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2435484">
                  <a:extLst>
                    <a:ext uri="{9D8B030D-6E8A-4147-A177-3AD203B41FA5}">
                      <a16:colId xmlns:a16="http://schemas.microsoft.com/office/drawing/2014/main" val="3114463640"/>
                    </a:ext>
                  </a:extLst>
                </a:gridCol>
                <a:gridCol w="2435484">
                  <a:extLst>
                    <a:ext uri="{9D8B030D-6E8A-4147-A177-3AD203B41FA5}">
                      <a16:colId xmlns:a16="http://schemas.microsoft.com/office/drawing/2014/main" val="1672217397"/>
                    </a:ext>
                  </a:extLst>
                </a:gridCol>
              </a:tblGrid>
              <a:tr h="477284">
                <a:tc>
                  <a:txBody>
                    <a:bodyPr/>
                    <a:lstStyle/>
                    <a:p>
                      <a:pPr algn="r" rtl="1"/>
                      <a:r>
                        <a:rPr lang="fa-IR" sz="1400" b="1" dirty="0">
                          <a:solidFill>
                            <a:schemeClr val="bg1"/>
                          </a:solidFill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حدود قیمت (تومان)</a:t>
                      </a:r>
                      <a:endParaRPr lang="fa-IR" sz="1400" dirty="0">
                        <a:solidFill>
                          <a:schemeClr val="bg1"/>
                        </a:solidFill>
                        <a:effectLst/>
                        <a:latin typeface="KalamehFaNum" pitchFamily="2" charset="-78"/>
                        <a:cs typeface="KalamehFaNum" pitchFamily="2" charset="-78"/>
                      </a:endParaRPr>
                    </a:p>
                  </a:txBody>
                  <a:tcPr marL="60960" marR="60960" marT="60960" marB="6096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fa-IR" sz="1400" b="1" dirty="0">
                          <a:solidFill>
                            <a:schemeClr val="bg1"/>
                          </a:solidFill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درآمدها</a:t>
                      </a:r>
                      <a:endParaRPr lang="fa-IR" sz="1400" dirty="0">
                        <a:solidFill>
                          <a:schemeClr val="bg1"/>
                        </a:solidFill>
                        <a:effectLst/>
                        <a:latin typeface="KalamehFaNum" pitchFamily="2" charset="-78"/>
                        <a:cs typeface="KalamehFaNum" pitchFamily="2" charset="-78"/>
                      </a:endParaRPr>
                    </a:p>
                  </a:txBody>
                  <a:tcPr marL="60960" marR="60960" marT="60960" marB="6096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78039616"/>
                  </a:ext>
                </a:extLst>
              </a:tr>
              <a:tr h="477284">
                <a:tc>
                  <a:txBody>
                    <a:bodyPr/>
                    <a:lstStyle/>
                    <a:p>
                      <a:pPr algn="r" rtl="1"/>
                      <a:r>
                        <a:rPr lang="fa-IR" sz="1400">
                          <a:solidFill>
                            <a:schemeClr val="tx1"/>
                          </a:solidFill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۵۰,۰۰۰ تا ۱۵۰,۰۰۰</a:t>
                      </a:r>
                    </a:p>
                  </a:txBody>
                  <a:tcPr marL="60960" marR="60960" marT="60960" marB="6096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fa-IR" sz="1400" dirty="0">
                          <a:solidFill>
                            <a:schemeClr val="tx1"/>
                          </a:solidFill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اشتراک کتابخوان تلاشگر (ماهانه/کاربر)</a:t>
                      </a:r>
                    </a:p>
                  </a:txBody>
                  <a:tcPr marL="60960" marR="60960" marT="60960" marB="6096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22505218"/>
                  </a:ext>
                </a:extLst>
              </a:tr>
              <a:tr h="477284">
                <a:tc>
                  <a:txBody>
                    <a:bodyPr/>
                    <a:lstStyle/>
                    <a:p>
                      <a:pPr algn="r" rtl="1"/>
                      <a:r>
                        <a:rPr lang="fa-IR" sz="1400">
                          <a:solidFill>
                            <a:schemeClr val="tx1"/>
                          </a:solidFill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(اثر بر فروش، تخمین‌پذیر نیست)</a:t>
                      </a:r>
                    </a:p>
                  </a:txBody>
                  <a:tcPr marL="60960" marR="60960" marT="60960" marB="6096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fa-IR" sz="1400" dirty="0">
                          <a:solidFill>
                            <a:schemeClr val="tx1"/>
                          </a:solidFill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اهدای کد تخفیف 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n </a:t>
                      </a:r>
                      <a:r>
                        <a:rPr lang="fa-IR" sz="1400" dirty="0">
                          <a:solidFill>
                            <a:schemeClr val="tx1"/>
                          </a:solidFill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درصدی به دوستان</a:t>
                      </a:r>
                    </a:p>
                  </a:txBody>
                  <a:tcPr marL="60960" marR="60960" marT="60960" marB="6096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4700269"/>
                  </a:ext>
                </a:extLst>
              </a:tr>
              <a:tr h="542172">
                <a:tc>
                  <a:txBody>
                    <a:bodyPr/>
                    <a:lstStyle/>
                    <a:p>
                      <a:pPr algn="r" rtl="1"/>
                      <a:r>
                        <a:rPr lang="fa-IR" sz="1400">
                          <a:solidFill>
                            <a:schemeClr val="tx1"/>
                          </a:solidFill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۲۵۰,۰۰۰ تا ۷۰۰,۰۰۰</a:t>
                      </a:r>
                    </a:p>
                  </a:txBody>
                  <a:tcPr marL="60960" marR="60960" marT="60960" marB="6096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fa-IR" sz="1400" dirty="0">
                          <a:solidFill>
                            <a:schemeClr val="tx1"/>
                          </a:solidFill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خرید تایپوگرافی به صورت فیزیکی</a:t>
                      </a:r>
                    </a:p>
                  </a:txBody>
                  <a:tcPr marL="60960" marR="60960" marT="60960" marB="6096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22041228"/>
                  </a:ext>
                </a:extLst>
              </a:tr>
              <a:tr h="605824">
                <a:tc>
                  <a:txBody>
                    <a:bodyPr/>
                    <a:lstStyle/>
                    <a:p>
                      <a:pPr algn="r" rtl="1"/>
                      <a:r>
                        <a:rPr lang="fa-IR" sz="1400" dirty="0">
                          <a:solidFill>
                            <a:schemeClr val="tx1"/>
                          </a:solidFill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۵۰,۰۰۰ تا ۳۰۰,۰۰۰</a:t>
                      </a:r>
                    </a:p>
                  </a:txBody>
                  <a:tcPr marL="60960" marR="60960" marT="60960" marB="6096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fa-IR" sz="1400" dirty="0">
                          <a:solidFill>
                            <a:schemeClr val="tx1"/>
                          </a:solidFill>
                          <a:effectLst/>
                          <a:latin typeface="KalamehFaNum" pitchFamily="2" charset="-78"/>
                          <a:cs typeface="KalamehFaNum" pitchFamily="2" charset="-78"/>
                        </a:rPr>
                        <a:t>دریافت طرح‌های مختلف درباره کتاب با هوش مصنوعی</a:t>
                      </a:r>
                    </a:p>
                  </a:txBody>
                  <a:tcPr marL="60960" marR="60960" marT="60960" marB="6096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081456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63305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8692FC88-DAD7-F5AD-7831-DE5432210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12227942" cy="6857997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FD6A3FE-1BF6-4C1A-0553-EBD497A69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7" y="202309"/>
            <a:ext cx="6327105" cy="664482"/>
          </a:xfrm>
        </p:spPr>
        <p:txBody>
          <a:bodyPr anchor="b"/>
          <a:lstStyle/>
          <a:p>
            <a:r>
              <a:rPr lang="fa-IR" b="1" spc="0" dirty="0">
                <a:latin typeface="Sahel" panose="020B0603030804020204" pitchFamily="34" charset="-78"/>
                <a:cs typeface="Sahel" panose="020B0603030804020204" pitchFamily="34" charset="-78"/>
              </a:rPr>
              <a:t>معرفی اعضای تیم کارآفرینی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C15774B0-D971-67D7-27EB-FDB82B3A58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3637" y="1259456"/>
            <a:ext cx="8842838" cy="5525631"/>
          </a:xfrm>
        </p:spPr>
        <p:txBody>
          <a:bodyPr/>
          <a:lstStyle/>
          <a:p>
            <a:pPr marL="800100" lvl="1" indent="-34290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a-IR" sz="1800" b="1" dirty="0">
                <a:effectLst/>
                <a:latin typeface="KalamehFaNum" pitchFamily="2" charset="-78"/>
                <a:cs typeface="KalamehFaNum" pitchFamily="2" charset="-78"/>
              </a:rPr>
              <a:t>دکتر زهرا طاهری(بنیان گذار)</a:t>
            </a:r>
          </a:p>
          <a:p>
            <a:pPr lvl="1" algn="r" rtl="1">
              <a:lnSpc>
                <a:spcPct val="200000"/>
              </a:lnSpc>
            </a:pPr>
            <a:r>
              <a:rPr lang="fa-IR" sz="1100" dirty="0">
                <a:effectLst/>
                <a:latin typeface="KalamehFaNum" pitchFamily="2" charset="-78"/>
                <a:cs typeface="KalamehFaNum" pitchFamily="2" charset="-78"/>
              </a:rPr>
              <a:t>استاد زبان و ادبیات فارسی دانشگاه صنعتی شریف</a:t>
            </a:r>
          </a:p>
          <a:p>
            <a:pPr lvl="1" algn="r" rtl="1">
              <a:lnSpc>
                <a:spcPct val="200000"/>
              </a:lnSpc>
            </a:pPr>
            <a:r>
              <a:rPr lang="fa-IR" sz="1100" dirty="0">
                <a:effectLst/>
                <a:latin typeface="KalamehFaNum" pitchFamily="2" charset="-78"/>
                <a:cs typeface="KalamehFaNum" pitchFamily="2" charset="-78"/>
              </a:rPr>
              <a:t>پژوهشگر دانشگاه تورنتو، دانشنامه جهان اسلام، دانشنامه مطبوعات ایران، دانشنامه زنان ایران و جهان، مرکز تحقیقات دانشگاه تربیت مدرس</a:t>
            </a:r>
          </a:p>
          <a:p>
            <a:pPr lvl="1" algn="r" rtl="1">
              <a:lnSpc>
                <a:spcPct val="200000"/>
              </a:lnSpc>
            </a:pPr>
            <a:r>
              <a:rPr lang="fa-IR" sz="1100" dirty="0">
                <a:effectLst/>
                <a:latin typeface="KalamehFaNum" pitchFamily="2" charset="-78"/>
                <a:cs typeface="KalamehFaNum" pitchFamily="2" charset="-78"/>
              </a:rPr>
              <a:t>دکتری زبان و ادبیات فارسی</a:t>
            </a:r>
          </a:p>
          <a:p>
            <a:pPr lvl="1" algn="r" rtl="1">
              <a:lnSpc>
                <a:spcPct val="200000"/>
              </a:lnSpc>
            </a:pPr>
            <a:r>
              <a:rPr lang="en-US" sz="1100" dirty="0">
                <a:effectLst/>
                <a:latin typeface="KalamehFaNum" pitchFamily="2" charset="-78"/>
                <a:cs typeface="KalamehFaNum" pitchFamily="2" charset="-78"/>
                <a:hlinkClick r:id="rId3"/>
              </a:rPr>
              <a:t>https://orcid.org/0000-0002-0921-1926</a:t>
            </a:r>
            <a:r>
              <a:rPr lang="fa-IR" sz="1100" dirty="0">
                <a:latin typeface="KalamehFaNum" pitchFamily="2" charset="-78"/>
                <a:cs typeface="KalamehFaNum" pitchFamily="2" charset="-78"/>
              </a:rPr>
              <a:t>	</a:t>
            </a:r>
            <a:r>
              <a:rPr lang="en-US" sz="1100" dirty="0">
                <a:latin typeface="KalamehFaNum" pitchFamily="2" charset="-78"/>
                <a:cs typeface="KalamehFaNum" pitchFamily="2" charset="-78"/>
              </a:rPr>
              <a:t>https://scholar.google.com/citations?user=h9POwrkAAAAJ&amp;hl=en</a:t>
            </a:r>
            <a:endParaRPr lang="fa-IR" sz="1100" dirty="0">
              <a:latin typeface="KalamehFaNum" pitchFamily="2" charset="-78"/>
              <a:cs typeface="KalamehFaNum" pitchFamily="2" charset="-78"/>
            </a:endParaRPr>
          </a:p>
          <a:p>
            <a:pPr lvl="1" algn="r" rtl="1">
              <a:lnSpc>
                <a:spcPct val="200000"/>
              </a:lnSpc>
            </a:pPr>
            <a:r>
              <a:rPr lang="en-US" sz="1050" dirty="0"/>
              <a:t>https://magiran.com/R441041</a:t>
            </a:r>
            <a:endParaRPr lang="fa-IR" dirty="0">
              <a:effectLst/>
              <a:latin typeface="KalamehFaNum" pitchFamily="2" charset="-78"/>
              <a:cs typeface="KalamehFaNum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3307339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8692FC88-DAD7-F5AD-7831-DE5432210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12227942" cy="6857997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FD6A3FE-1BF6-4C1A-0553-EBD497A69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7" y="111761"/>
            <a:ext cx="6327105" cy="1734968"/>
          </a:xfrm>
        </p:spPr>
        <p:txBody>
          <a:bodyPr anchor="b"/>
          <a:lstStyle/>
          <a:p>
            <a:r>
              <a:rPr lang="fa-IR" b="1" spc="0" dirty="0">
                <a:latin typeface="Sahel" panose="020B0603030804020204" pitchFamily="34" charset="-78"/>
                <a:cs typeface="Sahel" panose="020B0603030804020204" pitchFamily="34" charset="-78"/>
              </a:rPr>
              <a:t>درخواست تیم ما از شتابدهنده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C15774B0-D971-67D7-27EB-FDB82B3A58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97403" y="2323903"/>
            <a:ext cx="8668872" cy="3756165"/>
          </a:xfrm>
        </p:spPr>
        <p:txBody>
          <a:bodyPr/>
          <a:lstStyle/>
          <a:p>
            <a:pPr marL="800100" lvl="1" indent="-34290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a-IR" dirty="0">
                <a:effectLst/>
                <a:latin typeface="KalamehFaNum" pitchFamily="2" charset="-78"/>
                <a:cs typeface="KalamehFaNum" pitchFamily="2" charset="-78"/>
              </a:rPr>
              <a:t>ایجاد </a:t>
            </a:r>
            <a:r>
              <a:rPr lang="fa-IR" dirty="0">
                <a:latin typeface="KalamehFaNum" pitchFamily="2" charset="-78"/>
                <a:cs typeface="KalamehFaNum" pitchFamily="2" charset="-78"/>
              </a:rPr>
              <a:t>و تسهیل در ارتباط با سرمایه گذاران مختلف</a:t>
            </a:r>
          </a:p>
          <a:p>
            <a:pPr marL="800100" lvl="1" indent="-34290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a-IR" dirty="0">
                <a:latin typeface="KalamehFaNum" pitchFamily="2" charset="-78"/>
                <a:cs typeface="KalamehFaNum" pitchFamily="2" charset="-78"/>
              </a:rPr>
              <a:t>تهیه سرور کارت گرافیک موقت برای پیاده سازی مدل </a:t>
            </a:r>
            <a:r>
              <a:rPr lang="en-US" dirty="0">
                <a:latin typeface="KalamehFaNum" pitchFamily="2" charset="-78"/>
                <a:cs typeface="KalamehFaNum" pitchFamily="2" charset="-78"/>
              </a:rPr>
              <a:t>LLM</a:t>
            </a:r>
            <a:r>
              <a:rPr lang="fa-IR" dirty="0">
                <a:latin typeface="KalamehFaNum" pitchFamily="2" charset="-78"/>
                <a:cs typeface="KalamehFaNum" pitchFamily="2" charset="-78"/>
              </a:rPr>
              <a:t> و </a:t>
            </a:r>
            <a:r>
              <a:rPr lang="en-US" dirty="0">
                <a:latin typeface="KalamehFaNum" pitchFamily="2" charset="-78"/>
                <a:cs typeface="KalamehFaNum" pitchFamily="2" charset="-78"/>
              </a:rPr>
              <a:t>TTS</a:t>
            </a:r>
            <a:endParaRPr lang="fa-IR" dirty="0">
              <a:latin typeface="KalamehFaNum" pitchFamily="2" charset="-78"/>
              <a:cs typeface="KalamehFaNum" pitchFamily="2" charset="-78"/>
            </a:endParaRPr>
          </a:p>
          <a:p>
            <a:pPr marL="800100" lvl="1" indent="-34290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a-IR" dirty="0">
                <a:effectLst/>
                <a:latin typeface="KalamehFaNum" pitchFamily="2" charset="-78"/>
                <a:cs typeface="KalamehFaNum" pitchFamily="2" charset="-78"/>
              </a:rPr>
              <a:t>اس</a:t>
            </a:r>
            <a:r>
              <a:rPr lang="fa-IR" dirty="0">
                <a:latin typeface="KalamehFaNum" pitchFamily="2" charset="-78"/>
                <a:cs typeface="KalamehFaNum" pitchFamily="2" charset="-78"/>
              </a:rPr>
              <a:t>تقرار در فضای کارآفرینانه</a:t>
            </a:r>
          </a:p>
          <a:p>
            <a:pPr marL="800100" lvl="1" indent="-34290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a-IR" dirty="0">
                <a:effectLst/>
                <a:latin typeface="KalamehFaNum" pitchFamily="2" charset="-78"/>
                <a:cs typeface="KalamehFaNum" pitchFamily="2" charset="-78"/>
              </a:rPr>
              <a:t>ارتباط با منتور های حقوقی و بازاریابی شتابدهنده</a:t>
            </a:r>
          </a:p>
          <a:p>
            <a:pPr marL="800100" lvl="1" indent="-34290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a-IR" dirty="0">
                <a:latin typeface="KalamehFaNum" pitchFamily="2" charset="-78"/>
                <a:cs typeface="KalamehFaNum" pitchFamily="2" charset="-78"/>
              </a:rPr>
              <a:t>تسهیل در ارتباط سازی با ذی نفعان</a:t>
            </a:r>
            <a:endParaRPr lang="fa-IR" dirty="0">
              <a:effectLst/>
              <a:latin typeface="KalamehFaNum" pitchFamily="2" charset="-78"/>
              <a:cs typeface="KalamehFaNum" pitchFamily="2" charset="-78"/>
            </a:endParaRPr>
          </a:p>
          <a:p>
            <a:pPr marL="800100" lvl="1" indent="-34290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fa-IR" dirty="0">
              <a:effectLst/>
              <a:latin typeface="KalamehFaNum" pitchFamily="2" charset="-78"/>
              <a:cs typeface="KalamehFaNum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1423415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8692FC88-DAD7-F5AD-7831-DE5432210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12227942" cy="6857997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FD6A3FE-1BF6-4C1A-0553-EBD497A69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111761"/>
            <a:ext cx="6327105" cy="1734968"/>
          </a:xfrm>
        </p:spPr>
        <p:txBody>
          <a:bodyPr anchor="b"/>
          <a:lstStyle/>
          <a:p>
            <a:r>
              <a:rPr lang="fa-IR" b="1" spc="0" dirty="0">
                <a:latin typeface="Sahel" panose="020B0603030804020204" pitchFamily="34" charset="-78"/>
                <a:cs typeface="Sahel" panose="020B0603030804020204" pitchFamily="34" charset="-78"/>
              </a:rPr>
              <a:t>چرا این پروژه ارزشمند است؟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C15774B0-D971-67D7-27EB-FDB82B3A58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5399" y="2143254"/>
            <a:ext cx="8668872" cy="3756165"/>
          </a:xfrm>
        </p:spPr>
        <p:txBody>
          <a:bodyPr/>
          <a:lstStyle/>
          <a:p>
            <a:pPr marL="800100" lvl="1" indent="-34290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a-IR" sz="1800" dirty="0">
                <a:effectLst/>
                <a:latin typeface="KalamehFaNum" pitchFamily="2" charset="-78"/>
                <a:cs typeface="KalamehFaNum" pitchFamily="2" charset="-78"/>
              </a:rPr>
              <a:t>رفع محدودیت‌ها و نقاط ضعف موجود در پلتفرم‌های فعلی</a:t>
            </a:r>
          </a:p>
          <a:p>
            <a:pPr marL="800100" lvl="1" indent="-34290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a-IR" sz="1800" dirty="0">
                <a:effectLst/>
                <a:latin typeface="KalamehFaNum" pitchFamily="2" charset="-78"/>
                <a:cs typeface="KalamehFaNum" pitchFamily="2" charset="-78"/>
              </a:rPr>
              <a:t>استفاده از تکنولوژی‌های مدرن مانند هوش مصنوعی برای ایجاد تجربه‌ای منحصر به فرد</a:t>
            </a:r>
          </a:p>
          <a:p>
            <a:pPr marL="800100" lvl="1" indent="-34290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a-IR" sz="1800" dirty="0">
                <a:effectLst/>
                <a:latin typeface="KalamehFaNum" pitchFamily="2" charset="-78"/>
                <a:cs typeface="KalamehFaNum" pitchFamily="2" charset="-78"/>
              </a:rPr>
              <a:t>جذب کاربران علاقه‌مند به کتاب‌ها و پادکست‌ها با ارائه امکانات متنوع و یکپارچه</a:t>
            </a:r>
          </a:p>
          <a:p>
            <a:pPr marL="800100" lvl="1" indent="-34290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a-IR" sz="1800" dirty="0">
                <a:effectLst/>
                <a:latin typeface="KalamehFaNum" pitchFamily="2" charset="-78"/>
                <a:cs typeface="KalamehFaNum" pitchFamily="2" charset="-78"/>
              </a:rPr>
              <a:t>استفاده از </a:t>
            </a:r>
            <a:r>
              <a:rPr lang="fa-IR" sz="1800" dirty="0">
                <a:latin typeface="KalamehFaNum" pitchFamily="2" charset="-78"/>
                <a:cs typeface="KalamehFaNum" pitchFamily="2" charset="-78"/>
              </a:rPr>
              <a:t>استعداد افراد علاقه مند به حوزه گویندگی و کتاب خوانی</a:t>
            </a:r>
          </a:p>
          <a:p>
            <a:pPr marL="800100" lvl="1" indent="-34290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a-IR" sz="1800" dirty="0">
                <a:latin typeface="KalamehFaNum" pitchFamily="2" charset="-78"/>
                <a:cs typeface="KalamehFaNum" pitchFamily="2" charset="-78"/>
              </a:rPr>
              <a:t>مشارکت کاربران در تولید محتوا برای برنامه</a:t>
            </a:r>
            <a:endParaRPr lang="fa-IR" sz="1800" dirty="0">
              <a:effectLst/>
              <a:latin typeface="KalamehFaNum" pitchFamily="2" charset="-78"/>
              <a:cs typeface="KalamehFaNum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12651006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36837_win32_SL_V11" id="{EAD6EF7B-6F25-4469-AF6A-07D6EB1461DD}" vid="{30FEA78B-2F89-4FF0-8415-E3920802C5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A78D9019-7CE1-4B77-8F5D-67F6576598C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F6E7B4D-FB62-47B7-AAA7-0DEC9938DB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42E6C21-1752-4E06-9FE3-208D45ADB668}">
  <ds:schemaRefs>
    <ds:schemaRef ds:uri="http://purl.org/dc/dcmitype/"/>
    <ds:schemaRef ds:uri="71af3243-3dd4-4a8d-8c0d-dd76da1f02a5"/>
    <ds:schemaRef ds:uri="http://schemas.microsoft.com/sharepoint/v3"/>
    <ds:schemaRef ds:uri="16c05727-aa75-4e4a-9b5f-8a80a1165891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  <ds:schemaRef ds:uri="230e9df3-be65-4c73-a93b-d1236ebd677e"/>
    <ds:schemaRef ds:uri="http://www.w3.org/XML/1998/namespace"/>
    <ds:schemaRef ds:uri="http://purl.org/dc/terms/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8781</TotalTime>
  <Words>2680</Words>
  <Application>Microsoft Office PowerPoint</Application>
  <PresentationFormat>Widescreen</PresentationFormat>
  <Paragraphs>442</Paragraphs>
  <Slides>27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Arial</vt:lpstr>
      <vt:lpstr>Arial Nova</vt:lpstr>
      <vt:lpstr>AzarMehr-DS1-FD Black</vt:lpstr>
      <vt:lpstr>Biome</vt:lpstr>
      <vt:lpstr>Calibri</vt:lpstr>
      <vt:lpstr>KalamehFaNum</vt:lpstr>
      <vt:lpstr>Sahel</vt:lpstr>
      <vt:lpstr>Ye</vt:lpstr>
      <vt:lpstr>Custom</vt:lpstr>
      <vt:lpstr>استارتاپ کتاپاد</vt:lpstr>
      <vt:lpstr>چالش</vt:lpstr>
      <vt:lpstr>چالش «بر اساس آمار موسسه مطالعاتی اقتصاد و صلح (شاخص جهانی صلح)»</vt:lpstr>
      <vt:lpstr>ضرورت اجرای طرح</vt:lpstr>
      <vt:lpstr>راهکارهای فعلی</vt:lpstr>
      <vt:lpstr>کمبودهای راهکارهای فعلی</vt:lpstr>
      <vt:lpstr>کمبودهای راهکارهای فعلی</vt:lpstr>
      <vt:lpstr>ایجاد یک پلتفرم هوشمند و چندمنظوره برای ارائه کتاب‌های صوتی، با استفاده از هوش مصنوعی برای شخصی‌سازی تجربه کاربری و تعامل آسان‌تر با محتوا و ایجاد فضای تعاملی برای بهبود تجربه کاربری!</vt:lpstr>
      <vt:lpstr>محصول  اپلیکیشن کتابا</vt:lpstr>
      <vt:lpstr>امکانات اپلیکیشن</vt:lpstr>
      <vt:lpstr>ارزش های پیشنهادی</vt:lpstr>
      <vt:lpstr>جامعه هدف</vt:lpstr>
      <vt:lpstr>اندازه جامعه هدف</vt:lpstr>
      <vt:lpstr>مدل کسب و کار و مدل درآمدی</vt:lpstr>
      <vt:lpstr>مقایسه رقبا</vt:lpstr>
      <vt:lpstr>مزیت رقابتی</vt:lpstr>
      <vt:lpstr>ایده چت‌بات «کتاب‌یار»</vt:lpstr>
      <vt:lpstr>استراتژی بازاریابی  «استراتژی گام اول – یک تا دو ماه ابتدایی»</vt:lpstr>
      <vt:lpstr>استراتژی بازاریابی  «استراتژی گام دوم – یک تا دو سال ابتدایی»</vt:lpstr>
      <vt:lpstr>استراتژی بازاریابی  «استراتژی گام سوم – بیش از یک سال ابتدایی»</vt:lpstr>
      <vt:lpstr>PowerPoint Presentation</vt:lpstr>
      <vt:lpstr>استراتژی رشد</vt:lpstr>
      <vt:lpstr>استراتژی رشد</vt:lpstr>
      <vt:lpstr>پیش بینی هزینه ها و درآمد ها</vt:lpstr>
      <vt:lpstr>معرفی اعضای تیم کارآفرینی</vt:lpstr>
      <vt:lpstr>درخواست تیم ما از شتابدهنده</vt:lpstr>
      <vt:lpstr>چرا این پروژه ارزشمند است؟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</dc:title>
  <dc:creator>hosein asgari</dc:creator>
  <cp:lastModifiedBy>hosein asgari</cp:lastModifiedBy>
  <cp:revision>1139</cp:revision>
  <dcterms:created xsi:type="dcterms:W3CDTF">2024-01-05T14:58:10Z</dcterms:created>
  <dcterms:modified xsi:type="dcterms:W3CDTF">2026-08-26T19:42:59Z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